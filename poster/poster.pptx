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3"/>
  </p:notesMasterIdLst>
  <p:sldIdLst>
    <p:sldId id="256" r:id="rId12"/>
  </p:sldIdLst>
  <p:sldSz cx="42803763" cy="23544213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57" autoAdjust="0"/>
  </p:normalViewPr>
  <p:slideViewPr>
    <p:cSldViewPr snapToGrid="0">
      <p:cViewPr>
        <p:scale>
          <a:sx n="75" d="100"/>
          <a:sy n="75" d="100"/>
        </p:scale>
        <p:origin x="-2508" y="-1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20B33-F30E-4F66-A804-812ADF04C20D}" type="datetimeFigureOut">
              <a:rPr lang="fr-CA" smtClean="0"/>
              <a:t>2026-04-21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0063" y="1336675"/>
            <a:ext cx="655955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A5DEB-476A-45A3-A9C7-6AFE7E7D97A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186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A5DEB-476A-45A3-A9C7-6AFE7E7D97AF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861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140200" y="939240"/>
            <a:ext cx="38523240" cy="39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2140200" y="5509080"/>
            <a:ext cx="38523240" cy="1365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E9C2197-F6FA-448A-9BD4-2C25EFE0D8B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795B844-7D94-4A0A-9CD6-132D6C93E45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4823A83-7FAE-45FC-B7DF-23123056B3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140200" y="939240"/>
            <a:ext cx="38523240" cy="39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2140200" y="5509080"/>
            <a:ext cx="38523240" cy="1365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E4C57F-2A97-4DA7-B34B-FF612E35623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53395BD-82DD-430C-87AA-2398D80788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140200" y="939240"/>
            <a:ext cx="38523240" cy="39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140200" y="5509080"/>
            <a:ext cx="18799200" cy="1365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1879720" y="5509080"/>
            <a:ext cx="18799200" cy="1365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D02C05E-6846-4247-9FBD-C525AF79F94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C0AD43C-C474-4648-B74D-FA12F0692FE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140200" y="939240"/>
            <a:ext cx="38523240" cy="39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448CE67-9403-4522-8B98-EADAFF6441D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0332FCF1-42D4-48FE-96A6-24AB5CFB6F5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168D7CF8-B9AB-42AC-8B52-15B86A6FAEA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0AB509DD-3352-4FC6-A35E-FFAABD3991B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4251F2-7682-4A97-B464-AE0C1093A10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87E3A8-304C-457C-BF00-CFF42F67934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9EF275-6C53-40B0-9A2B-12C47033882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04C971-C61A-4D69-9D4E-527C692A94C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489C18-EE78-4DD7-A550-3097441241B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F69F7D-C09A-49A1-86CC-4611C3FD080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492E34-1B46-40E1-9C95-0F50F5567C1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65FAE9-0205-482A-8392-05C69729BE6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1E51E2-7910-45E5-A0A1-D588E81C8AA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2140200" y="939240"/>
            <a:ext cx="38523240" cy="39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2140200" y="5509080"/>
            <a:ext cx="38523240" cy="1365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C7430F-B88D-4672-9AA1-0D3B74BDFED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7DE1AA-CEF5-43FD-8741-FE07CBA0FF2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792000" y="982500"/>
            <a:ext cx="41219640" cy="20144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0" b="1" strike="noStrike" spc="-1" dirty="0">
                <a:solidFill>
                  <a:srgbClr val="1B3A6B"/>
                </a:solidFill>
                <a:latin typeface="Calibri"/>
              </a:rPr>
              <a:t>Does adding image retrieval help a text-based RAG?</a:t>
            </a:r>
            <a:endParaRPr lang="en-US" sz="1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792000" y="3856103"/>
            <a:ext cx="9926640" cy="762457"/>
          </a:xfrm>
          <a:prstGeom prst="rect">
            <a:avLst/>
          </a:prstGeom>
          <a:solidFill>
            <a:srgbClr val="1B3A6B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900000" y="3939600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WHY HYBRID RAG?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92000" y="4740897"/>
            <a:ext cx="9926640" cy="12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RAG pipelines over visually rich PDFs face a basic tension: the answer may live in text (paragraphs, tables) or in visual elements (charts, figures) that text extractors drop or flatten.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64000" y="6159900"/>
            <a:ext cx="9854640" cy="4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>
                <a:solidFill>
                  <a:srgbClr val="1D1D1D"/>
                </a:solidFill>
                <a:latin typeface="Calibri"/>
              </a:rPr>
              <a:t>Textual retrieval: </a:t>
            </a:r>
            <a:r>
              <a:rPr lang="en-US" sz="2500" b="0" strike="noStrike" spc="-1">
                <a:solidFill>
                  <a:srgbClr val="1D1D1D"/>
                </a:solidFill>
                <a:latin typeface="Calibri"/>
              </a:rPr>
              <a:t>Precise on text - blind to figures.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64000" y="6866940"/>
            <a:ext cx="10108800" cy="4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>
                <a:solidFill>
                  <a:srgbClr val="1D1D1D"/>
                </a:solidFill>
                <a:latin typeface="Calibri"/>
              </a:rPr>
              <a:t>Visual retrieval: </a:t>
            </a:r>
            <a:r>
              <a:rPr lang="en-US" sz="2500" b="0" strike="noStrike" spc="-1">
                <a:solidFill>
                  <a:srgbClr val="1D1D1D"/>
                </a:solidFill>
                <a:latin typeface="Calibri"/>
              </a:rPr>
              <a:t>Sees layout and figures - less precise on fine-grained text.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792000" y="7603880"/>
            <a:ext cx="9926640" cy="995300"/>
          </a:xfrm>
          <a:prstGeom prst="rect">
            <a:avLst/>
          </a:prstGeom>
          <a:solidFill>
            <a:srgbClr val="FDF5E7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792000" y="7603880"/>
            <a:ext cx="122400" cy="995300"/>
          </a:xfrm>
          <a:prstGeom prst="rect">
            <a:avLst/>
          </a:prstGeom>
          <a:solidFill>
            <a:srgbClr val="C97B2C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972000" y="7711880"/>
            <a:ext cx="9674640" cy="8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Hybrid retrieval: the two streams capture complementary evidence. </a:t>
            </a:r>
            <a:endParaRPr lang="en-US" sz="2500" b="1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Does that hold in practice?</a:t>
            </a:r>
            <a:endParaRPr lang="en-US" sz="25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792000" y="9876071"/>
            <a:ext cx="9926640" cy="763200"/>
          </a:xfrm>
          <a:prstGeom prst="rect">
            <a:avLst/>
          </a:prstGeom>
          <a:solidFill>
            <a:srgbClr val="1B3A6B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900000" y="9961680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VISUAL RETRIEVAL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792000" y="10778428"/>
            <a:ext cx="9926640" cy="8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Each PDF page is encoded as pixels by a vision-language model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No OCR, no markdown, no chunking. 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14"/>
          <p:cNvSpPr/>
          <p:nvPr/>
        </p:nvSpPr>
        <p:spPr>
          <a:xfrm>
            <a:off x="792000" y="11719280"/>
            <a:ext cx="97560" cy="323640"/>
          </a:xfrm>
          <a:prstGeom prst="rect">
            <a:avLst/>
          </a:prstGeom>
          <a:solidFill>
            <a:srgbClr val="C97B2C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972000" y="11665280"/>
            <a:ext cx="9746640" cy="4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strike="noStrike" spc="-1" dirty="0" err="1">
                <a:solidFill>
                  <a:srgbClr val="1B3A6B"/>
                </a:solidFill>
                <a:latin typeface="Calibri"/>
              </a:rPr>
              <a:t>ColPali</a:t>
            </a:r>
            <a:r>
              <a:rPr lang="en-US" sz="2500" b="1" strike="noStrike" spc="-1" dirty="0">
                <a:solidFill>
                  <a:srgbClr val="1B3A6B"/>
                </a:solidFill>
                <a:latin typeface="Calibri"/>
              </a:rPr>
              <a:t> (</a:t>
            </a:r>
            <a:r>
              <a:rPr lang="en-US" sz="2500" b="1" strike="noStrike" spc="-1" dirty="0" err="1">
                <a:solidFill>
                  <a:srgbClr val="1B3A6B"/>
                </a:solidFill>
                <a:latin typeface="Calibri"/>
              </a:rPr>
              <a:t>Faysse</a:t>
            </a:r>
            <a:r>
              <a:rPr lang="en-US" sz="2500" b="1" strike="noStrike" spc="-1" dirty="0">
                <a:solidFill>
                  <a:srgbClr val="1B3A6B"/>
                </a:solidFill>
                <a:latin typeface="Calibri"/>
              </a:rPr>
              <a:t> et al., 2025)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914400" y="12361880"/>
            <a:ext cx="9926640" cy="12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Late interaction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: each page is encoded into one embedding per image patch, each query into one per token. Scoring uses MaxSim: for every query token, find its closest page patch and sum those best-match scores. 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17"/>
          <p:cNvSpPr/>
          <p:nvPr/>
        </p:nvSpPr>
        <p:spPr>
          <a:xfrm>
            <a:off x="792000" y="14059280"/>
            <a:ext cx="97560" cy="323640"/>
          </a:xfrm>
          <a:prstGeom prst="rect">
            <a:avLst/>
          </a:prstGeom>
          <a:solidFill>
            <a:srgbClr val="C97B2C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914400" y="13985840"/>
            <a:ext cx="9746640" cy="4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strike="noStrike" spc="-1" dirty="0" err="1">
                <a:solidFill>
                  <a:srgbClr val="1B3A6B"/>
                </a:solidFill>
                <a:latin typeface="Calibri"/>
              </a:rPr>
              <a:t>ColEmbed</a:t>
            </a:r>
            <a:r>
              <a:rPr lang="en-US" sz="2500" b="1" strike="noStrike" spc="-1" dirty="0">
                <a:solidFill>
                  <a:srgbClr val="1B3A6B"/>
                </a:solidFill>
                <a:latin typeface="Calibri"/>
              </a:rPr>
              <a:t> (Xu et al., 2025) 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817560" y="14679200"/>
            <a:ext cx="9926640" cy="8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Stronger backbone Llama-</a:t>
            </a:r>
            <a:r>
              <a:rPr lang="en-US" sz="2500" b="0" strike="noStrike" spc="-1" dirty="0" err="1">
                <a:solidFill>
                  <a:srgbClr val="1D1D1D"/>
                </a:solidFill>
                <a:latin typeface="Calibri"/>
              </a:rPr>
              <a:t>Nemotron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 (NVIDIA) and broader synthetic query-page training with hard-negative mining.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20"/>
          <p:cNvSpPr/>
          <p:nvPr/>
        </p:nvSpPr>
        <p:spPr>
          <a:xfrm>
            <a:off x="792000" y="16322183"/>
            <a:ext cx="9926640" cy="763200"/>
          </a:xfrm>
          <a:prstGeom prst="rect">
            <a:avLst/>
          </a:prstGeom>
          <a:solidFill>
            <a:srgbClr val="1B3A6B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900000" y="16405680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VIDORE3 BENCHMARK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2"/>
          <p:cNvSpPr/>
          <p:nvPr/>
        </p:nvSpPr>
        <p:spPr>
          <a:xfrm>
            <a:off x="792000" y="17189771"/>
            <a:ext cx="9926640" cy="4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10 corpora, 26 000 pages, 3 099 human-verified queries in 6 languages. 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5"/>
          <p:cNvSpPr/>
          <p:nvPr/>
        </p:nvSpPr>
        <p:spPr>
          <a:xfrm>
            <a:off x="864000" y="18082962"/>
            <a:ext cx="9854640" cy="4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>
                <a:solidFill>
                  <a:srgbClr val="1D1D1D"/>
                </a:solidFill>
                <a:latin typeface="Calibri"/>
              </a:rPr>
              <a:t>Visually rich documents: </a:t>
            </a:r>
            <a:r>
              <a:rPr lang="en-US" sz="2500" b="0" strike="noStrike" spc="-1">
                <a:solidFill>
                  <a:srgbClr val="1D1D1D"/>
                </a:solidFill>
                <a:latin typeface="Calibri"/>
              </a:rPr>
              <a:t>annual reports, scientific books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26"/>
          <p:cNvSpPr/>
          <p:nvPr/>
        </p:nvSpPr>
        <p:spPr>
          <a:xfrm>
            <a:off x="889560" y="18751482"/>
            <a:ext cx="9854640" cy="4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>
                <a:solidFill>
                  <a:srgbClr val="1D1D1D"/>
                </a:solidFill>
                <a:latin typeface="Calibri"/>
              </a:rPr>
              <a:t>7 query types: </a:t>
            </a:r>
            <a:r>
              <a:rPr lang="en-US" sz="2500" b="0" strike="noStrike" spc="-1">
                <a:solidFill>
                  <a:srgbClr val="1D1D1D"/>
                </a:solidFill>
                <a:latin typeface="Calibri"/>
              </a:rPr>
              <a:t>from open-ended synthesis to single-number lookup.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27"/>
          <p:cNvSpPr/>
          <p:nvPr/>
        </p:nvSpPr>
        <p:spPr>
          <a:xfrm>
            <a:off x="864000" y="19461042"/>
            <a:ext cx="9854640" cy="8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>
                <a:solidFill>
                  <a:srgbClr val="1D1D1D"/>
                </a:solidFill>
                <a:latin typeface="Calibri"/>
              </a:rPr>
              <a:t>Cross-lingual: </a:t>
            </a:r>
            <a:r>
              <a:rPr lang="en-US" sz="2500" b="0" strike="noStrike" spc="-1">
                <a:solidFill>
                  <a:srgbClr val="1D1D1D"/>
                </a:solidFill>
                <a:latin typeface="Calibri"/>
              </a:rPr>
              <a:t>queries in 6 languages paired with EN or FR source documents.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8"/>
          <p:cNvSpPr/>
          <p:nvPr/>
        </p:nvSpPr>
        <p:spPr>
          <a:xfrm>
            <a:off x="914400" y="20498895"/>
            <a:ext cx="9854640" cy="8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Finding: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best retriever is not always the best generator (NDCG@10 vs pass@1).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29"/>
          <p:cNvSpPr/>
          <p:nvPr/>
        </p:nvSpPr>
        <p:spPr>
          <a:xfrm>
            <a:off x="11223000" y="3856103"/>
            <a:ext cx="9926640" cy="763200"/>
          </a:xfrm>
          <a:prstGeom prst="rect">
            <a:avLst/>
          </a:prstGeom>
          <a:solidFill>
            <a:srgbClr val="1B3A6B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30"/>
          <p:cNvSpPr/>
          <p:nvPr/>
        </p:nvSpPr>
        <p:spPr>
          <a:xfrm>
            <a:off x="11331000" y="3939600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METHOD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36"/>
          <p:cNvSpPr/>
          <p:nvPr/>
        </p:nvSpPr>
        <p:spPr>
          <a:xfrm>
            <a:off x="14390280" y="5248200"/>
            <a:ext cx="2370960" cy="584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PDF page image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37"/>
          <p:cNvSpPr/>
          <p:nvPr/>
        </p:nvSpPr>
        <p:spPr>
          <a:xfrm>
            <a:off x="11479680" y="6501360"/>
            <a:ext cx="3233520" cy="709560"/>
          </a:xfrm>
          <a:prstGeom prst="rect">
            <a:avLst/>
          </a:prstGeom>
          <a:solidFill>
            <a:srgbClr val="FDF5E7"/>
          </a:solidFill>
          <a:ln w="15240">
            <a:solidFill>
              <a:srgbClr val="C97B2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DeepSeek-OCR-2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666666"/>
                </a:solidFill>
                <a:latin typeface="Calibri"/>
              </a:rPr>
              <a:t>text extractor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38"/>
          <p:cNvSpPr/>
          <p:nvPr/>
        </p:nvSpPr>
        <p:spPr>
          <a:xfrm>
            <a:off x="11479680" y="7545720"/>
            <a:ext cx="3233520" cy="54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Jina v4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666666"/>
                </a:solidFill>
                <a:latin typeface="Calibri"/>
              </a:rPr>
              <a:t>text encoder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39"/>
          <p:cNvSpPr/>
          <p:nvPr/>
        </p:nvSpPr>
        <p:spPr>
          <a:xfrm>
            <a:off x="11479680" y="8381280"/>
            <a:ext cx="3233520" cy="542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zerank-2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666666"/>
                </a:solidFill>
                <a:latin typeface="Calibri"/>
              </a:rPr>
              <a:t>cross-encoder reranker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40"/>
          <p:cNvSpPr/>
          <p:nvPr/>
        </p:nvSpPr>
        <p:spPr>
          <a:xfrm>
            <a:off x="11479680" y="9216480"/>
            <a:ext cx="3233520" cy="54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Top-5 text docs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41"/>
          <p:cNvSpPr/>
          <p:nvPr/>
        </p:nvSpPr>
        <p:spPr>
          <a:xfrm>
            <a:off x="16438680" y="6501360"/>
            <a:ext cx="3233520" cy="542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Page images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42"/>
          <p:cNvSpPr/>
          <p:nvPr/>
        </p:nvSpPr>
        <p:spPr>
          <a:xfrm>
            <a:off x="16438680" y="8381280"/>
            <a:ext cx="3233520" cy="542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ColEmbed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666666"/>
                </a:solidFill>
                <a:latin typeface="Calibri"/>
              </a:rPr>
              <a:t>image encoder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43"/>
          <p:cNvSpPr/>
          <p:nvPr/>
        </p:nvSpPr>
        <p:spPr>
          <a:xfrm>
            <a:off x="16438680" y="9216480"/>
            <a:ext cx="3233520" cy="54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B3A6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Top-5 image pages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44"/>
          <p:cNvSpPr/>
          <p:nvPr/>
        </p:nvSpPr>
        <p:spPr>
          <a:xfrm>
            <a:off x="13959000" y="10323840"/>
            <a:ext cx="3233520" cy="626400"/>
          </a:xfrm>
          <a:prstGeom prst="rect">
            <a:avLst/>
          </a:prstGeom>
          <a:solidFill>
            <a:srgbClr val="FDF5E7"/>
          </a:solidFill>
          <a:ln w="15240">
            <a:solidFill>
              <a:srgbClr val="C97B2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qwen3.5:35b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666666"/>
                </a:solidFill>
                <a:latin typeface="Calibri"/>
              </a:rPr>
              <a:t>multimodal generator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45"/>
          <p:cNvSpPr/>
          <p:nvPr/>
        </p:nvSpPr>
        <p:spPr>
          <a:xfrm>
            <a:off x="13959000" y="11346960"/>
            <a:ext cx="3233520" cy="542880"/>
          </a:xfrm>
          <a:prstGeom prst="rect">
            <a:avLst/>
          </a:prstGeom>
          <a:solidFill>
            <a:srgbClr val="FDF5E7"/>
          </a:solidFill>
          <a:ln w="15240">
            <a:solidFill>
              <a:srgbClr val="C97B2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strike="noStrike" spc="-1">
                <a:solidFill>
                  <a:srgbClr val="1D1D1D"/>
                </a:solidFill>
                <a:latin typeface="Calibri"/>
              </a:rPr>
              <a:t>llama3.1:8b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666666"/>
                </a:solidFill>
                <a:latin typeface="Calibri"/>
              </a:rPr>
              <a:t>judge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" name="Connector 46"/>
          <p:cNvCxnSpPr/>
          <p:nvPr/>
        </p:nvCxnSpPr>
        <p:spPr>
          <a:xfrm flipH="1">
            <a:off x="13096800" y="5832480"/>
            <a:ext cx="1832760" cy="66888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08" name="Connector 47"/>
          <p:cNvCxnSpPr/>
          <p:nvPr/>
        </p:nvCxnSpPr>
        <p:spPr>
          <a:xfrm>
            <a:off x="16222680" y="5832480"/>
            <a:ext cx="1832760" cy="66888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09" name="Connector 48"/>
          <p:cNvCxnSpPr/>
          <p:nvPr/>
        </p:nvCxnSpPr>
        <p:spPr>
          <a:xfrm>
            <a:off x="13096800" y="7211280"/>
            <a:ext cx="360" cy="33444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10" name="Connector 49"/>
          <p:cNvCxnSpPr/>
          <p:nvPr/>
        </p:nvCxnSpPr>
        <p:spPr>
          <a:xfrm>
            <a:off x="13096800" y="8088600"/>
            <a:ext cx="360" cy="29268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11" name="Connector 50"/>
          <p:cNvCxnSpPr/>
          <p:nvPr/>
        </p:nvCxnSpPr>
        <p:spPr>
          <a:xfrm>
            <a:off x="13096800" y="8923800"/>
            <a:ext cx="360" cy="29268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12" name="Connector 51"/>
          <p:cNvCxnSpPr/>
          <p:nvPr/>
        </p:nvCxnSpPr>
        <p:spPr>
          <a:xfrm>
            <a:off x="18055080" y="7043880"/>
            <a:ext cx="360" cy="133740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13" name="Connector 52"/>
          <p:cNvCxnSpPr/>
          <p:nvPr/>
        </p:nvCxnSpPr>
        <p:spPr>
          <a:xfrm>
            <a:off x="18055080" y="8923800"/>
            <a:ext cx="360" cy="29268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14" name="Connector 53"/>
          <p:cNvCxnSpPr/>
          <p:nvPr/>
        </p:nvCxnSpPr>
        <p:spPr>
          <a:xfrm>
            <a:off x="13851360" y="9759360"/>
            <a:ext cx="1078200" cy="50184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15" name="Connector 54"/>
          <p:cNvCxnSpPr/>
          <p:nvPr/>
        </p:nvCxnSpPr>
        <p:spPr>
          <a:xfrm flipH="1">
            <a:off x="16222680" y="9759360"/>
            <a:ext cx="1078200" cy="50184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cxnSp>
        <p:nvCxnSpPr>
          <p:cNvPr id="116" name="Connector 55"/>
          <p:cNvCxnSpPr/>
          <p:nvPr/>
        </p:nvCxnSpPr>
        <p:spPr>
          <a:xfrm>
            <a:off x="15576120" y="10950240"/>
            <a:ext cx="360" cy="397080"/>
          </a:xfrm>
          <a:prstGeom prst="straightConnector1">
            <a:avLst/>
          </a:prstGeom>
          <a:ln w="15240">
            <a:solidFill>
              <a:srgbClr val="1B3A6B"/>
            </a:solidFill>
            <a:round/>
            <a:tailEnd type="arrow" w="med" len="med"/>
          </a:ln>
        </p:spPr>
      </p:cxnSp>
      <p:sp>
        <p:nvSpPr>
          <p:cNvPr id="119" name="TextBox 58"/>
          <p:cNvSpPr/>
          <p:nvPr/>
        </p:nvSpPr>
        <p:spPr>
          <a:xfrm>
            <a:off x="11223000" y="12798700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DeepSeek-OCR-2: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open-weights document OCR with layout-preserving markdown (HTML tables, LaTeX)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59"/>
          <p:cNvSpPr/>
          <p:nvPr/>
        </p:nvSpPr>
        <p:spPr>
          <a:xfrm>
            <a:off x="11223000" y="13873360"/>
            <a:ext cx="985464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Qwen3.5:35b: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multimodal generator, Q4-quantized </a:t>
            </a:r>
            <a:r>
              <a:rPr lang="en-US" sz="2500" b="0" strike="noStrike" spc="-1" dirty="0" err="1">
                <a:solidFill>
                  <a:srgbClr val="1D1D1D"/>
                </a:solidFill>
                <a:latin typeface="Calibri"/>
              </a:rPr>
              <a:t>MoE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60"/>
          <p:cNvSpPr/>
          <p:nvPr/>
        </p:nvSpPr>
        <p:spPr>
          <a:xfrm>
            <a:off x="11223000" y="14649560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llama3.1:8b: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judge from a different model family (Meta vs Alibaba) to reduce self-preference bias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65" descr="deepseek_ocr2_fig3.jpg"/>
          <p:cNvPicPr/>
          <p:nvPr/>
        </p:nvPicPr>
        <p:blipFill>
          <a:blip r:embed="rId3"/>
          <a:stretch/>
        </p:blipFill>
        <p:spPr>
          <a:xfrm>
            <a:off x="11196030" y="16669485"/>
            <a:ext cx="9854640" cy="4186850"/>
          </a:xfrm>
          <a:prstGeom prst="rect">
            <a:avLst/>
          </a:prstGeom>
          <a:ln w="0">
            <a:noFill/>
          </a:ln>
        </p:spPr>
      </p:pic>
      <p:sp>
        <p:nvSpPr>
          <p:cNvPr id="133" name="Rectangle 72"/>
          <p:cNvSpPr/>
          <p:nvPr/>
        </p:nvSpPr>
        <p:spPr>
          <a:xfrm>
            <a:off x="21654000" y="3856102"/>
            <a:ext cx="9926640" cy="763200"/>
          </a:xfrm>
          <a:prstGeom prst="rect">
            <a:avLst/>
          </a:prstGeom>
          <a:solidFill>
            <a:srgbClr val="1B3A6B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73"/>
          <p:cNvSpPr/>
          <p:nvPr/>
        </p:nvSpPr>
        <p:spPr>
          <a:xfrm>
            <a:off x="21762000" y="3939600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 74"/>
          <p:cNvSpPr/>
          <p:nvPr/>
        </p:nvSpPr>
        <p:spPr>
          <a:xfrm>
            <a:off x="21654000" y="4823575"/>
            <a:ext cx="107640" cy="411875"/>
          </a:xfrm>
          <a:prstGeom prst="rect">
            <a:avLst/>
          </a:prstGeom>
          <a:solidFill>
            <a:srgbClr val="C97B2C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75"/>
          <p:cNvSpPr/>
          <p:nvPr/>
        </p:nvSpPr>
        <p:spPr>
          <a:xfrm>
            <a:off x="21834000" y="4769576"/>
            <a:ext cx="974664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strike="noStrike" spc="-1" dirty="0">
                <a:solidFill>
                  <a:srgbClr val="1B3A6B"/>
                </a:solidFill>
                <a:latin typeface="Calibri"/>
              </a:rPr>
              <a:t>Retrieval quality (NDCG@10)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7" name="Table 76"/>
          <p:cNvGraphicFramePr/>
          <p:nvPr>
            <p:extLst>
              <p:ext uri="{D42A27DB-BD31-4B8C-83A1-F6EECF244321}">
                <p14:modId xmlns:p14="http://schemas.microsoft.com/office/powerpoint/2010/main" val="3085666927"/>
              </p:ext>
            </p:extLst>
          </p:nvPr>
        </p:nvGraphicFramePr>
        <p:xfrm>
          <a:off x="21654000" y="5511894"/>
          <a:ext cx="9926280" cy="3626172"/>
        </p:xfrm>
        <a:graphic>
          <a:graphicData uri="http://schemas.openxmlformats.org/drawingml/2006/table">
            <a:tbl>
              <a:tblPr/>
              <a:tblGrid>
                <a:gridCol w="387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90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1B3A6B"/>
                          </a:solidFill>
                          <a:latin typeface="Calibri"/>
                        </a:rPr>
                        <a:t>Subset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 err="1">
                          <a:solidFill>
                            <a:srgbClr val="1B3A6B"/>
                          </a:solidFill>
                          <a:latin typeface="Calibri"/>
                        </a:rPr>
                        <a:t>ColEmbed</a:t>
                      </a:r>
                      <a:r>
                        <a:rPr lang="en-US" sz="2200" b="1" strike="noStrike" spc="-1" baseline="0" dirty="0">
                          <a:solidFill>
                            <a:srgbClr val="1B3A6B"/>
                          </a:solidFill>
                          <a:latin typeface="Calibri"/>
                        </a:rPr>
                        <a:t> (image)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1B3A6B"/>
                          </a:solidFill>
                          <a:latin typeface="Calibri"/>
                        </a:rPr>
                        <a:t>Jina + zerank-2 (text)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 err="1">
                          <a:solidFill>
                            <a:srgbClr val="000000"/>
                          </a:solidFill>
                          <a:latin typeface="Calibri"/>
                        </a:rPr>
                        <a:t>computer_science</a:t>
                      </a: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(EN)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78.0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82.4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finance_en (EN)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68.6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65.7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pharmaceuticals (EN)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67.2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65.1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physics (FR)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47.8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46.6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finance_fr (FR)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47.6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48.1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71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avg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61.8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61.6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9" name="TextBox 78"/>
          <p:cNvSpPr/>
          <p:nvPr/>
        </p:nvSpPr>
        <p:spPr>
          <a:xfrm>
            <a:off x="21834000" y="10186128"/>
            <a:ext cx="974664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strike="noStrike" spc="-1" dirty="0">
                <a:solidFill>
                  <a:srgbClr val="1B3A6B"/>
                </a:solidFill>
                <a:latin typeface="Calibri"/>
              </a:rPr>
              <a:t>End-to-end accuracy (pass@1 %)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0" name="Table 79"/>
          <p:cNvGraphicFramePr/>
          <p:nvPr>
            <p:extLst>
              <p:ext uri="{D42A27DB-BD31-4B8C-83A1-F6EECF244321}">
                <p14:modId xmlns:p14="http://schemas.microsoft.com/office/powerpoint/2010/main" val="2488575459"/>
              </p:ext>
            </p:extLst>
          </p:nvPr>
        </p:nvGraphicFramePr>
        <p:xfrm>
          <a:off x="21654000" y="10722707"/>
          <a:ext cx="9925920" cy="3728351"/>
        </p:xfrm>
        <a:graphic>
          <a:graphicData uri="http://schemas.openxmlformats.org/drawingml/2006/table">
            <a:tbl>
              <a:tblPr/>
              <a:tblGrid>
                <a:gridCol w="317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765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1B3A6B"/>
                          </a:solidFill>
                          <a:latin typeface="Calibri"/>
                        </a:rPr>
                        <a:t>Subset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1B3A6B"/>
                          </a:solidFill>
                          <a:latin typeface="Calibri"/>
                        </a:rPr>
                        <a:t>Closed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1B3A6B"/>
                          </a:solidFill>
                          <a:latin typeface="Calibri"/>
                        </a:rPr>
                        <a:t>Image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B3A6B"/>
                          </a:solidFill>
                          <a:latin typeface="Calibri"/>
                        </a:rPr>
                        <a:t>Text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1B3A6B"/>
                          </a:solidFill>
                          <a:latin typeface="Calibri"/>
                        </a:rPr>
                        <a:t>Hybrid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computer_science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91.6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93.0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95.3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95.3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finance_en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56.0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74.8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79.0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81.6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pharmaceuticals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68.4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83.2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88.5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89.3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Physics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87.8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83.1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90.1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89.7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 err="1">
                          <a:solidFill>
                            <a:srgbClr val="000000"/>
                          </a:solidFill>
                          <a:latin typeface="Calibri"/>
                        </a:rPr>
                        <a:t>finance_fr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40.6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70.3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80.3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77.2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93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Avg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68.9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80.9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86.6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166534"/>
                          </a:solidFill>
                          <a:latin typeface="Calibri"/>
                        </a:rPr>
                        <a:t>86.6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2" name="TextBox 81"/>
          <p:cNvSpPr/>
          <p:nvPr/>
        </p:nvSpPr>
        <p:spPr>
          <a:xfrm>
            <a:off x="21834000" y="15862014"/>
            <a:ext cx="974664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strike="noStrike" spc="-1" dirty="0">
                <a:solidFill>
                  <a:srgbClr val="1B3A6B"/>
                </a:solidFill>
                <a:latin typeface="Calibri"/>
              </a:rPr>
              <a:t>pass@1 by query type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3" name="Table 82"/>
          <p:cNvGraphicFramePr/>
          <p:nvPr>
            <p:extLst>
              <p:ext uri="{D42A27DB-BD31-4B8C-83A1-F6EECF244321}">
                <p14:modId xmlns:p14="http://schemas.microsoft.com/office/powerpoint/2010/main" val="825318267"/>
              </p:ext>
            </p:extLst>
          </p:nvPr>
        </p:nvGraphicFramePr>
        <p:xfrm>
          <a:off x="21654000" y="16611952"/>
          <a:ext cx="9925920" cy="4159753"/>
        </p:xfrm>
        <a:graphic>
          <a:graphicData uri="http://schemas.openxmlformats.org/drawingml/2006/table">
            <a:tbl>
              <a:tblPr/>
              <a:tblGrid>
                <a:gridCol w="317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261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 dirty="0">
                          <a:solidFill>
                            <a:srgbClr val="1B3A6B"/>
                          </a:solidFill>
                          <a:latin typeface="Calibri"/>
                        </a:rPr>
                        <a:t>Query type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B3A6B"/>
                          </a:solidFill>
                          <a:latin typeface="Calibri"/>
                        </a:rPr>
                        <a:t>Closed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B3A6B"/>
                          </a:solidFill>
                          <a:latin typeface="Calibri"/>
                        </a:rPr>
                        <a:t>Image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B3A6B"/>
                          </a:solidFill>
                          <a:latin typeface="Calibri"/>
                        </a:rPr>
                        <a:t>Text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B3A6B"/>
                          </a:solidFill>
                          <a:latin typeface="Calibri"/>
                        </a:rPr>
                        <a:t>Hybrid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numerical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36.4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70.4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70.7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74.1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extractive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54.3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77.4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83.1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82.6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multi-hop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68.6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84.7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84.7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91.5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enumerative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60.3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75.8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83.5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80.9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boolean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72.1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85.0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93.2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991B1B"/>
                          </a:solidFill>
                          <a:latin typeface="Calibri"/>
                        </a:rPr>
                        <a:t>87.8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B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compare-contrast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71.9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80.8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84.6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85.3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open-ended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82.8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>
                          <a:solidFill>
                            <a:srgbClr val="000000"/>
                          </a:solidFill>
                          <a:latin typeface="Calibri"/>
                        </a:rPr>
                        <a:t>82.6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1" strike="noStrike" spc="-1" baseline="0">
                          <a:solidFill>
                            <a:srgbClr val="166534"/>
                          </a:solidFill>
                          <a:latin typeface="Calibri"/>
                        </a:rPr>
                        <a:t>91.9</a:t>
                      </a:r>
                      <a:endParaRPr lang="en-US" sz="2200" b="0" strike="noStrike" spc="-1" baseline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2200" b="0" strike="noStrike" spc="-1" baseline="0" dirty="0">
                          <a:solidFill>
                            <a:srgbClr val="000000"/>
                          </a:solidFill>
                          <a:latin typeface="Calibri"/>
                        </a:rPr>
                        <a:t>91.5</a:t>
                      </a:r>
                      <a:endParaRPr lang="en-US" sz="2200" b="0" strike="noStrike" spc="-1" baseline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4" name="Rectangle 83"/>
          <p:cNvSpPr/>
          <p:nvPr/>
        </p:nvSpPr>
        <p:spPr>
          <a:xfrm>
            <a:off x="32085000" y="3856103"/>
            <a:ext cx="9926640" cy="763200"/>
          </a:xfrm>
          <a:prstGeom prst="rect">
            <a:avLst/>
          </a:prstGeom>
          <a:solidFill>
            <a:srgbClr val="1B3A6B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84"/>
          <p:cNvSpPr/>
          <p:nvPr/>
        </p:nvSpPr>
        <p:spPr>
          <a:xfrm>
            <a:off x="32193000" y="3939600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TAKEAWAYS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88"/>
          <p:cNvSpPr/>
          <p:nvPr/>
        </p:nvSpPr>
        <p:spPr>
          <a:xfrm>
            <a:off x="32211000" y="4867634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Multi-hop: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+6.8 pts over text: two streams retrieve different pages, giving the generator broader coverage.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89"/>
          <p:cNvSpPr/>
          <p:nvPr/>
        </p:nvSpPr>
        <p:spPr>
          <a:xfrm>
            <a:off x="32193000" y="6000071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Numerical: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+3.4 pts: visual table layout preserves row/column structure that OCR partly loses.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90"/>
          <p:cNvSpPr/>
          <p:nvPr/>
        </p:nvSpPr>
        <p:spPr>
          <a:xfrm>
            <a:off x="32211000" y="7094397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Boolean: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-5.4 pts: text already retrieves the fact; extra image pages dilute the prompt.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91"/>
          <p:cNvSpPr/>
          <p:nvPr/>
        </p:nvSpPr>
        <p:spPr>
          <a:xfrm>
            <a:off x="32211000" y="8233267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Strong text baseline: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DeepSeek + Jina + zerank-2 matches hybrid at half the retrieval cost (5 vs 10 pages).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92"/>
          <p:cNvSpPr/>
          <p:nvPr/>
        </p:nvSpPr>
        <p:spPr>
          <a:xfrm>
            <a:off x="32211000" y="9312107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Retrieval value: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+37.7 pts on numerical, +28.3 on extractive, only +8.7 on open-ended over closed-book.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 94"/>
          <p:cNvSpPr/>
          <p:nvPr/>
        </p:nvSpPr>
        <p:spPr>
          <a:xfrm>
            <a:off x="32085000" y="11075881"/>
            <a:ext cx="9926640" cy="763200"/>
          </a:xfrm>
          <a:prstGeom prst="rect">
            <a:avLst/>
          </a:prstGeom>
          <a:solidFill>
            <a:srgbClr val="1B3A6B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95"/>
          <p:cNvSpPr/>
          <p:nvPr/>
        </p:nvSpPr>
        <p:spPr>
          <a:xfrm>
            <a:off x="32193000" y="11942676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LIMITATIONS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98"/>
          <p:cNvSpPr/>
          <p:nvPr/>
        </p:nvSpPr>
        <p:spPr>
          <a:xfrm>
            <a:off x="32157000" y="12206390"/>
            <a:ext cx="985464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Generator qwen3.5:35b: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vision weaker than Gemini 3 Pro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99"/>
          <p:cNvSpPr/>
          <p:nvPr/>
        </p:nvSpPr>
        <p:spPr>
          <a:xfrm>
            <a:off x="32157000" y="12973773"/>
            <a:ext cx="985464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Judge llama3.1:8b: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verbosity bias: longer answers get rewarded. 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02"/>
          <p:cNvSpPr/>
          <p:nvPr/>
        </p:nvSpPr>
        <p:spPr>
          <a:xfrm>
            <a:off x="32157000" y="13816700"/>
            <a:ext cx="985464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Binary pass@1: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near-miss and complete miss treated identically.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05"/>
          <p:cNvSpPr/>
          <p:nvPr/>
        </p:nvSpPr>
        <p:spPr>
          <a:xfrm>
            <a:off x="32157000" y="14565818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Domain-specific: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CS, finance, pharma only. May not transfer to general-purpose RAG.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106"/>
          <p:cNvSpPr/>
          <p:nvPr/>
        </p:nvSpPr>
        <p:spPr>
          <a:xfrm>
            <a:off x="32085000" y="16465830"/>
            <a:ext cx="9926640" cy="763200"/>
          </a:xfrm>
          <a:prstGeom prst="rect">
            <a:avLst/>
          </a:prstGeom>
          <a:solidFill>
            <a:srgbClr val="1B3A6B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107"/>
          <p:cNvSpPr/>
          <p:nvPr/>
        </p:nvSpPr>
        <p:spPr>
          <a:xfrm>
            <a:off x="32193000" y="16538880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FUTURE WORK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08"/>
          <p:cNvSpPr/>
          <p:nvPr/>
        </p:nvSpPr>
        <p:spPr>
          <a:xfrm>
            <a:off x="32157000" y="17480315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Stronger generators: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Gemini 3 Pro, Qwen3-VL-235B to isolate the generator-capability effect.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09"/>
          <p:cNvSpPr/>
          <p:nvPr/>
        </p:nvSpPr>
        <p:spPr>
          <a:xfrm>
            <a:off x="32157000" y="18421871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Verbosity control: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Controlled-verbosity prompt and judge swap to rule out verbosity bias.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110"/>
          <p:cNvSpPr/>
          <p:nvPr/>
        </p:nvSpPr>
        <p:spPr>
          <a:xfrm>
            <a:off x="32157000" y="19348911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Adaptive fusion: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Weighted combination, deduplication, query-type routing.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11"/>
          <p:cNvSpPr/>
          <p:nvPr/>
        </p:nvSpPr>
        <p:spPr>
          <a:xfrm>
            <a:off x="32157000" y="20275949"/>
            <a:ext cx="9854640" cy="8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0" strike="noStrike" spc="-1" dirty="0">
                <a:solidFill>
                  <a:srgbClr val="C97B2C"/>
                </a:solidFill>
                <a:latin typeface="Calibri"/>
              </a:rPr>
              <a:t>• </a:t>
            </a:r>
            <a:r>
              <a:rPr lang="en-US" sz="2500" b="1" strike="noStrike" spc="-1" dirty="0">
                <a:solidFill>
                  <a:srgbClr val="1D1D1D"/>
                </a:solidFill>
                <a:latin typeface="Calibri"/>
              </a:rPr>
              <a:t>Figure captioning: </a:t>
            </a:r>
            <a:r>
              <a:rPr lang="en-US" sz="2500" b="0" strike="noStrike" spc="-1" dirty="0">
                <a:solidFill>
                  <a:srgbClr val="1D1D1D"/>
                </a:solidFill>
                <a:latin typeface="Calibri"/>
              </a:rPr>
              <a:t>Close the figure-placeholder blind spot in the text stream.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74">
            <a:extLst>
              <a:ext uri="{FF2B5EF4-FFF2-40B4-BE49-F238E27FC236}">
                <a16:creationId xmlns:a16="http://schemas.microsoft.com/office/drawing/2014/main" id="{809F391F-643D-673E-E440-44C45E7FFE94}"/>
              </a:ext>
            </a:extLst>
          </p:cNvPr>
          <p:cNvSpPr/>
          <p:nvPr/>
        </p:nvSpPr>
        <p:spPr>
          <a:xfrm>
            <a:off x="21666700" y="10218447"/>
            <a:ext cx="107640" cy="411875"/>
          </a:xfrm>
          <a:prstGeom prst="rect">
            <a:avLst/>
          </a:prstGeom>
          <a:solidFill>
            <a:srgbClr val="C97B2C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" name="Rectangle 74">
            <a:extLst>
              <a:ext uri="{FF2B5EF4-FFF2-40B4-BE49-F238E27FC236}">
                <a16:creationId xmlns:a16="http://schemas.microsoft.com/office/drawing/2014/main" id="{41F647E4-B983-0600-746D-9B29C48537F7}"/>
              </a:ext>
            </a:extLst>
          </p:cNvPr>
          <p:cNvSpPr/>
          <p:nvPr/>
        </p:nvSpPr>
        <p:spPr>
          <a:xfrm>
            <a:off x="21666700" y="15899288"/>
            <a:ext cx="107640" cy="456264"/>
          </a:xfrm>
          <a:prstGeom prst="rect">
            <a:avLst/>
          </a:prstGeom>
          <a:solidFill>
            <a:srgbClr val="C97B2C"/>
          </a:solidFill>
          <a:ln>
            <a:solidFill>
              <a:srgbClr val="4A7EB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" name="TextBox 107">
            <a:extLst>
              <a:ext uri="{FF2B5EF4-FFF2-40B4-BE49-F238E27FC236}">
                <a16:creationId xmlns:a16="http://schemas.microsoft.com/office/drawing/2014/main" id="{A9229675-8C90-6551-65FF-72B303B0FC3F}"/>
              </a:ext>
            </a:extLst>
          </p:cNvPr>
          <p:cNvSpPr/>
          <p:nvPr/>
        </p:nvSpPr>
        <p:spPr>
          <a:xfrm>
            <a:off x="32243802" y="11184750"/>
            <a:ext cx="9782640" cy="5525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FFFFFF"/>
                </a:solidFill>
                <a:latin typeface="Calibri"/>
              </a:rPr>
              <a:t>LIMITATIONS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D9C73-6F68-B3E9-FB9B-D0FACBE3E085}"/>
              </a:ext>
            </a:extLst>
          </p:cNvPr>
          <p:cNvSpPr txBox="1"/>
          <p:nvPr/>
        </p:nvSpPr>
        <p:spPr>
          <a:xfrm>
            <a:off x="10180012" y="21710665"/>
            <a:ext cx="213999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1D1D1D"/>
                </a:solidFill>
                <a:latin typeface="Calibri"/>
              </a:rPr>
              <a:t>Alain Fidahoussen · </a:t>
            </a:r>
            <a:r>
              <a:rPr lang="en-US" sz="3000" b="0" strike="noStrike" spc="-1" dirty="0" err="1">
                <a:solidFill>
                  <a:srgbClr val="1D1D1D"/>
                </a:solidFill>
                <a:latin typeface="Calibri"/>
              </a:rPr>
              <a:t>Munyeong</a:t>
            </a:r>
            <a:r>
              <a:rPr lang="en-US" sz="3000" b="0" strike="noStrike" spc="-1" dirty="0">
                <a:solidFill>
                  <a:srgbClr val="1D1D1D"/>
                </a:solidFill>
                <a:latin typeface="Calibri"/>
              </a:rPr>
              <a:t> Kim · Aftab Gazali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000" b="0" i="1" strike="noStrike" spc="-1" dirty="0">
                <a:solidFill>
                  <a:srgbClr val="666666"/>
                </a:solidFill>
                <a:latin typeface="Calibri"/>
              </a:rPr>
              <a:t>Université de Montréal · MILA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8" name="Picture 34" descr="QR Code Image">
            <a:extLst>
              <a:ext uri="{FF2B5EF4-FFF2-40B4-BE49-F238E27FC236}">
                <a16:creationId xmlns:a16="http://schemas.microsoft.com/office/drawing/2014/main" id="{E2B5D3E7-209B-6EDD-6C3A-FED8E9C36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4706" y="180116"/>
            <a:ext cx="3480934" cy="348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720</Words>
  <Application>Microsoft Office PowerPoint</Application>
  <PresentationFormat>Custom</PresentationFormat>
  <Paragraphs>161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</vt:i4>
      </vt:variant>
    </vt:vector>
  </HeadingPairs>
  <TitlesOfParts>
    <vt:vector size="18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Alain Fidahoussen</cp:lastModifiedBy>
  <cp:revision>5</cp:revision>
  <dcterms:created xsi:type="dcterms:W3CDTF">2013-01-27T09:14:16Z</dcterms:created>
  <dcterms:modified xsi:type="dcterms:W3CDTF">2026-04-22T01:56:45Z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