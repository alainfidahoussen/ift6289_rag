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4000" cy="235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792000"/>
            <a:ext cx="41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B3A6B"/>
                </a:solidFill>
              </a:rPr>
              <a:t>Does adding image retrieval help a strong text-based RAG?</a:t>
            </a:r>
          </a:p>
          <a:p>
            <a:pPr algn="ctr"/>
            <a:r>
              <a:rPr sz="2300" b="0" i="0">
                <a:solidFill>
                  <a:srgbClr val="666666"/>
                </a:solidFill>
              </a:rPr>
              <a:t>Reproducing </a:t>
            </a:r>
            <a:r>
              <a:rPr sz="2300" b="0" i="0">
                <a:solidFill>
                  <a:srgbClr val="C97B2C"/>
                </a:solidFill>
              </a:rPr>
              <a:t>ViDoRe v3</a:t>
            </a:r>
            <a:r>
              <a:rPr sz="2300" b="0" i="0">
                <a:solidFill>
                  <a:srgbClr val="666666"/>
                </a:solidFill>
              </a:rPr>
              <a:t> with open-weights models</a:t>
            </a:r>
          </a:p>
          <a:p>
            <a:pPr algn="ctr"/>
            <a:r>
              <a:rPr sz="1400" b="0" i="0">
                <a:solidFill>
                  <a:srgbClr val="1D1D1D"/>
                </a:solidFill>
              </a:rPr>
              <a:t>Alain Fidahoussen · Munyeong Kim · Aftab Gazali</a:t>
            </a:r>
          </a:p>
          <a:p>
            <a:pPr algn="ctr"/>
            <a:r>
              <a:rPr sz="1200" b="0" i="1">
                <a:solidFill>
                  <a:srgbClr val="666666"/>
                </a:solidFill>
              </a:rPr>
              <a:t>Université de Montréal · MILA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2772000"/>
            <a:ext cx="41220000" cy="18000"/>
          </a:xfrm>
          <a:prstGeom prst="rect">
            <a:avLst/>
          </a:prstGeom>
          <a:solidFill>
            <a:srgbClr val="1D1D1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Why hybrid RAG?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924000"/>
            <a:ext cx="9927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RAG pipelines over visually rich PDFs face a basic tension: the answer may live in text (paragraphs, tables) or in visual elements (charts, figures, handwriting) that text extractors drop or flatten.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50760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Textual retrieval: </a:t>
            </a:r>
            <a:r>
              <a:rPr sz="1200" b="0" i="0">
                <a:solidFill>
                  <a:srgbClr val="1D1D1D"/>
                </a:solidFill>
              </a:rPr>
              <a:t>parser → markdown → dense embedding. Precise on text; blind to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4950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Visual retrieval: </a:t>
            </a:r>
            <a:r>
              <a:rPr sz="1200" b="0" i="0">
                <a:solidFill>
                  <a:srgbClr val="1D1D1D"/>
                </a:solidFill>
              </a:rPr>
              <a:t>page-image encoder (ColPali / ColEmbed). Sees layout and figures; less precise on fine-grained 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5986080"/>
            <a:ext cx="9927000" cy="1584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5986080"/>
            <a:ext cx="90000" cy="158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2000" y="6094080"/>
            <a:ext cx="9675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Hybrid concatenates the top-k of both streams and feeds them to a multimodal generator. The intuition: the two streams capture complementary evidence. Does that hold in practice?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77140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77680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Visual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836208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Each PDF page is encoded as pixels by a vision-language model, once, offline. No OCR, no markdown, no chunking. A page is its own atom.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9280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000" y="9226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ColPali (Faysse et al.,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9694080"/>
            <a:ext cx="9927000" cy="13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Late interaction: each page is encoded into one embedding per image patch, each query into one per token. Scoring uses MaxSim: for every query token, find its closest page patch and sum those best-match scores. A query "what is the Q3 revenue?" can match "Q3" to the right table column and "revenue" to the right row.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11188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0" y="11134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ColEmbed (Xu et al., 2025) — our visual stream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1602080"/>
            <a:ext cx="9927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Same late-interaction architecture, two upgrades: stronger backbone Llama-Nemotron (NVIDIA's document-focused VLM) and broader synthetic query-page training with hard-negative mining.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126820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" y="127360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The ViDoRe v3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3330080"/>
            <a:ext cx="9927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Loison et al. (2026): 10 corpora, 26 000 pages, 3 099 human-verified queries in 6 languages. We evaluate on 5 public subsets (3 EN + 2 FR): 10 673 pages and 2 132 queries.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1446408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0" y="1441008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What makes it 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000" y="148780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Visually rich documents: </a:t>
            </a:r>
            <a:r>
              <a:rPr sz="1200" b="0" i="0">
                <a:solidFill>
                  <a:srgbClr val="1D1D1D"/>
                </a:solidFill>
              </a:rPr>
              <a:t>annual reports, scientific books, pharma regulations. Tables, charts, figures carry real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" y="152971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7 query types: </a:t>
            </a:r>
            <a:r>
              <a:rPr sz="1200" b="0" i="0">
                <a:solidFill>
                  <a:srgbClr val="1D1D1D"/>
                </a:solidFill>
              </a:rPr>
              <a:t>from open-ended synthesis to single-number lookup.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157161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Cross-lingual: </a:t>
            </a:r>
            <a:r>
              <a:rPr sz="1200" b="0" i="0">
                <a:solidFill>
                  <a:srgbClr val="1D1D1D"/>
                </a:solidFill>
              </a:rPr>
              <a:t>queries in 6 languages paired with EN or FR source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161352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Decoupled evaluation: </a:t>
            </a:r>
            <a:r>
              <a:rPr sz="1200" b="0" i="0">
                <a:solidFill>
                  <a:srgbClr val="1D1D1D"/>
                </a:solidFill>
              </a:rPr>
              <a:t>best retriever is not always the best generator (NDCG@10 vs pass@1).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23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1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23000" y="3924000"/>
            <a:ext cx="9927000" cy="144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23000" y="3924000"/>
            <a:ext cx="90000" cy="144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03000" y="4032000"/>
            <a:ext cx="9675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Question: with the text stream fixed at DeepSeek-OCR-2 + Jina v4 + zerank-2, does adding a visual retrieval stream (ColEmbed) improve end-to-end answer accuracy?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23000" y="5562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03000" y="5508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Pipeline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5000" y="59760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Text stream: </a:t>
            </a:r>
            <a:r>
              <a:rPr sz="1200" b="0" i="0">
                <a:solidFill>
                  <a:srgbClr val="1D1D1D"/>
                </a:solidFill>
              </a:rPr>
              <a:t>PDF → DeepSeek-OCR-2 → markdown → Jina v4 (dense vectors) → zerank-2 (reranker) → Top-5 text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5000" y="63950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Image stream: </a:t>
            </a:r>
            <a:r>
              <a:rPr sz="1200" b="0" i="0">
                <a:solidFill>
                  <a:srgbClr val="1D1D1D"/>
                </a:solidFill>
              </a:rPr>
              <a:t>PDF page images → ColEmbed (image encoder) → Top-5 image pages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5000" y="68140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Fusion + eval: </a:t>
            </a:r>
            <a:r>
              <a:rPr sz="1200" b="0" i="0">
                <a:solidFill>
                  <a:srgbClr val="1D1D1D"/>
                </a:solidFill>
              </a:rPr>
              <a:t>Top-5 text + Top-5 image → qwen3.5:35b (generator) → Answer → llama3.1:8b (judge) → pass@1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23000" y="735912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03000" y="730512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Model choices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5000" y="77731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DeepSeek-OCR-2: </a:t>
            </a:r>
            <a:r>
              <a:rPr sz="1200" b="0" i="0">
                <a:solidFill>
                  <a:srgbClr val="1D1D1D"/>
                </a:solidFill>
              </a:rPr>
              <a:t>open-weights document OCR with layout-preserving markdown (HTML tables, LaTeX)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5000" y="81921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qwen3.5:35b: </a:t>
            </a:r>
            <a:r>
              <a:rPr sz="1200" b="0" i="0">
                <a:solidFill>
                  <a:srgbClr val="1D1D1D"/>
                </a:solidFill>
              </a:rPr>
              <a:t>multimodal generator, Q4-quantized MoE, fits on one 48 GB GPU, 262k context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95000" y="86112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llama3.1:8b: </a:t>
            </a:r>
            <a:r>
              <a:rPr sz="1200" b="0" i="0">
                <a:solidFill>
                  <a:srgbClr val="1D1D1D"/>
                </a:solidFill>
              </a:rPr>
              <a:t>judge from a different model family (Meta vs Alibaba) to reduce self-preference bias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23000" y="9102240"/>
            <a:ext cx="992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666666"/>
                </a:solidFill>
              </a:rPr>
              <a:t>All components are open-weights and run on a single GPU.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23000" y="966024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03000" y="960624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DeepSeek-OCR-2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23000" y="10074240"/>
            <a:ext cx="9927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D1D1D"/>
                </a:solidFill>
              </a:rPr>
              <a:t>Instead of consuming visual tokens top-left to bottom-right, learnable causal flow queries re-order them to a more logical reading path, preserving document structure in the output markdown.</a:t>
            </a:r>
          </a:p>
        </p:txBody>
      </p:sp>
      <p:pic>
        <p:nvPicPr>
          <p:cNvPr id="49" name="Picture 48" descr="deepseek_ocr2_fi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000" y="11082240"/>
            <a:ext cx="9927000" cy="3209730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1223000" y="1452597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03000" y="1447197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Experimental conditions (7 total)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5000" y="1493997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jina_nemo / jina_deepseek: </a:t>
            </a:r>
            <a:r>
              <a:rPr sz="1200" b="0" i="0">
                <a:solidFill>
                  <a:srgbClr val="1D1D1D"/>
                </a:solidFill>
              </a:rPr>
              <a:t>text only, top-5, no reranker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95000" y="1535901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jina_nemo_reranked / jina_deepseek_reranked: </a:t>
            </a:r>
            <a:r>
              <a:rPr sz="1200" b="0" i="0">
                <a:solidFill>
                  <a:srgbClr val="1D1D1D"/>
                </a:solidFill>
              </a:rPr>
              <a:t>text only, top-5, zerank-2 reranker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5000" y="1577805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colembed: </a:t>
            </a:r>
            <a:r>
              <a:rPr sz="1200" b="0" i="0">
                <a:solidFill>
                  <a:srgbClr val="1D1D1D"/>
                </a:solidFill>
              </a:rPr>
              <a:t>image only, top-5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5000" y="1619709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hybrid_nemo / hybrid_deepseek: </a:t>
            </a:r>
            <a:r>
              <a:rPr sz="1200" b="0" i="0">
                <a:solidFill>
                  <a:srgbClr val="1D1D1D"/>
                </a:solidFill>
              </a:rPr>
              <a:t>image top-5 + text top-5, zerank-2 on text stream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1654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762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654000" y="3978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834000" y="3924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Retrieval quality (NDCG@10)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21654000" y="4392000"/>
          <a:ext cx="9927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3500"/>
                <a:gridCol w="2481750"/>
                <a:gridCol w="248175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ColEmbed (image)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Jina + zerank-2 (text)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computer_science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82.4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finance_en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68.6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65.7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pharmaceuticals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65.1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physics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47.8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46.6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finance_fr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1" name="Rectangle 60"/>
          <p:cNvSpPr/>
          <p:nvPr/>
        </p:nvSpPr>
        <p:spPr>
          <a:xfrm>
            <a:off x="21654000" y="7146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834000" y="7092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End-to-end accuracy (pass@1 %)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21654000" y="7560000"/>
          <a:ext cx="9927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computer_science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81.6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pharmaceuticals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90.1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89.7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finance_fr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80.3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77.2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86.6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1654000" y="1031400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1834000" y="1026000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pass@1 by query type (all subsets pooled)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21654000" y="10728000"/>
          <a:ext cx="9927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36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74.1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82.6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multi-hop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enumerative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83.5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80.9</a:t>
                      </a:r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93.2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91B1B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>
                    <a:solidFill>
                      <a:srgbClr val="FBE6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compare-contrast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open-ended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6534"/>
                          </a:solidFill>
                        </a:defRPr>
                      </a:pPr>
                      <a:r>
                        <a:t>91.9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7" name="Rectangle 66"/>
          <p:cNvSpPr/>
          <p:nvPr/>
        </p:nvSpPr>
        <p:spPr>
          <a:xfrm>
            <a:off x="32085000" y="327600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193000" y="333000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Takeaways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85000" y="3924000"/>
            <a:ext cx="9927000" cy="864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85000" y="3924000"/>
            <a:ext cx="90000" cy="86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265000" y="4032000"/>
            <a:ext cx="9675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D1D1D"/>
                </a:solidFill>
              </a:rPr>
              <a:t>Image retrieval is query-type conditional. Overall, hybrid and text-only are tied at 86.6% pass@1.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157000" y="49320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Multi-hop: </a:t>
            </a:r>
            <a:r>
              <a:rPr sz="1200" b="0" i="0">
                <a:solidFill>
                  <a:srgbClr val="1D1D1D"/>
                </a:solidFill>
              </a:rPr>
              <a:t>+6.8 pts over text: two streams retrieve different pages, giving the generator broader coverage.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157000" y="53510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Numerical: </a:t>
            </a:r>
            <a:r>
              <a:rPr sz="1200" b="0" i="0">
                <a:solidFill>
                  <a:srgbClr val="1D1D1D"/>
                </a:solidFill>
              </a:rPr>
              <a:t>+3.4 pts: visual table layout preserves row/column structure that OCR partly loses.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157000" y="57700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Boolean: </a:t>
            </a:r>
            <a:r>
              <a:rPr sz="1200" b="0" i="0">
                <a:solidFill>
                  <a:srgbClr val="1D1D1D"/>
                </a:solidFill>
              </a:rPr>
              <a:t>-5.4 pts: text already retrieves the fact; extra image pages dilute the prompt.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157000" y="61891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Strong text baseline: </a:t>
            </a:r>
            <a:r>
              <a:rPr sz="1200" b="0" i="0">
                <a:solidFill>
                  <a:srgbClr val="1D1D1D"/>
                </a:solidFill>
              </a:rPr>
              <a:t>DeepSeek + Jina + zerank-2 matches hybrid at half the retrieval cost (5 vs 10 pages).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157000" y="66081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Retrieval value: </a:t>
            </a:r>
            <a:r>
              <a:rPr sz="1200" b="0" i="0">
                <a:solidFill>
                  <a:srgbClr val="1D1D1D"/>
                </a:solidFill>
              </a:rPr>
              <a:t>+37.7 pts on numerical, +28.3 on extractive, only +8.7 on open-ended over closed-book.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157000" y="70272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Generator bottleneck: </a:t>
            </a:r>
            <a:r>
              <a:rPr sz="1200" b="0" i="0">
                <a:solidFill>
                  <a:srgbClr val="1D1D1D"/>
                </a:solidFill>
              </a:rPr>
              <a:t>ViDoRe v3 reports +2.6 pts with Gemini 3 Pro. Our null result is likely generator-limited.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85000" y="751824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193000" y="757224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85000" y="822024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265000" y="816624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LLM choices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157000" y="86342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Generator qwen3.5:35b: </a:t>
            </a:r>
            <a:r>
              <a:rPr sz="1200" b="0" i="0">
                <a:solidFill>
                  <a:srgbClr val="1D1D1D"/>
                </a:solidFill>
              </a:rPr>
              <a:t>vision stack weaker than frontier closed models (Gemini 3 Pro, GPT-5.2).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157000" y="90532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Judge llama3.1:8b: </a:t>
            </a:r>
            <a:r>
              <a:rPr sz="1200" b="0" i="0">
                <a:solidFill>
                  <a:srgbClr val="1D1D1D"/>
                </a:solidFill>
              </a:rPr>
              <a:t>verbosity bias: longer answers get rewarded. Hybrid answers tend to be longer.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85000" y="9598320"/>
            <a:ext cx="72000" cy="324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265000" y="9544320"/>
            <a:ext cx="9747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3A6B"/>
                </a:solidFill>
              </a:rPr>
              <a:t>Benchmark and evaluation design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157000" y="100123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Binary pass@1: </a:t>
            </a:r>
            <a:r>
              <a:rPr sz="1200" b="0" i="0">
                <a:solidFill>
                  <a:srgbClr val="1D1D1D"/>
                </a:solidFill>
              </a:rPr>
              <a:t>near-miss and complete miss treated identically.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157000" y="104313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No human spot-check: </a:t>
            </a:r>
            <a:r>
              <a:rPr sz="1200" b="0" i="0">
                <a:solidFill>
                  <a:srgbClr val="1D1D1D"/>
                </a:solidFill>
              </a:rPr>
              <a:t>all judgments from LLM judge, no human validation.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157000" y="108504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Fixed fusion: </a:t>
            </a:r>
            <a:r>
              <a:rPr sz="1200" b="0" i="0">
                <a:solidFill>
                  <a:srgbClr val="1D1D1D"/>
                </a:solidFill>
              </a:rPr>
              <a:t>always top-5+top-5, no deduplication; same page can appear twice.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157000" y="1126944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Domain-specific: </a:t>
            </a:r>
            <a:r>
              <a:rPr sz="1200" b="0" i="0">
                <a:solidFill>
                  <a:srgbClr val="1D1D1D"/>
                </a:solidFill>
              </a:rPr>
              <a:t>CS, finance, pharma only. May not transfer to general-purpose RAG.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85000" y="11760480"/>
            <a:ext cx="9927000" cy="504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2193000" y="11814480"/>
            <a:ext cx="9783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57000" y="1240848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Stronger generators: </a:t>
            </a:r>
            <a:r>
              <a:rPr sz="1200" b="0" i="0">
                <a:solidFill>
                  <a:srgbClr val="1D1D1D"/>
                </a:solidFill>
              </a:rPr>
              <a:t>Gemini 3 Pro, Qwen3-VL-235B to isolate the generator-capability effect.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157000" y="1282752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Verbosity control: </a:t>
            </a:r>
            <a:r>
              <a:rPr sz="1200" b="0" i="0">
                <a:solidFill>
                  <a:srgbClr val="1D1D1D"/>
                </a:solidFill>
              </a:rPr>
              <a:t>Controlled-verbosity prompt and judge swap to rule out verbosity bias.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157000" y="1324656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Adaptive fusion: </a:t>
            </a:r>
            <a:r>
              <a:rPr sz="1200" b="0" i="0">
                <a:solidFill>
                  <a:srgbClr val="1D1D1D"/>
                </a:solidFill>
              </a:rPr>
              <a:t>Weighted combination, deduplication, query-type routing.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57000" y="13665600"/>
            <a:ext cx="9855000" cy="49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97B2C"/>
                </a:solidFill>
              </a:rPr>
              <a:t>• </a:t>
            </a:r>
            <a:r>
              <a:rPr sz="1200" b="1" i="0">
                <a:solidFill>
                  <a:srgbClr val="1D1D1D"/>
                </a:solidFill>
              </a:rPr>
              <a:t>Figure captioning: </a:t>
            </a:r>
            <a:r>
              <a:rPr sz="1200" b="0" i="0">
                <a:solidFill>
                  <a:srgbClr val="1D1D1D"/>
                </a:solidFill>
              </a:rPr>
              <a:t>Close the figure-placeholder blind spot in the text stream.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92000" y="22716000"/>
            <a:ext cx="41220000" cy="18000"/>
          </a:xfrm>
          <a:prstGeom prst="rect">
            <a:avLst/>
          </a:prstGeom>
          <a:solidFill>
            <a:srgbClr val="CCCC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2000" y="22752000"/>
            <a:ext cx="41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</a:rPr>
              <a:t>Text parser: DeepSeek-OCR-2  ·  Text retriever: Jina v4  ·  Reranker: zerank-2  ·  Visual retriever: ColEmbed (Llama-Nemotron 3B v2)  ·  Generator: qwen3.5:35b  ·  Judge: llama3.1:8b  ·  Benchmark: ViDoRe v3 (Loison et al.,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