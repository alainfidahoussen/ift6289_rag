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2804000" cy="235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792000"/>
            <a:ext cx="41220000" cy="18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1B3A6B"/>
                </a:solidFill>
              </a:rPr>
              <a:t>Does adding image retrieval help a strong text-based RAG?</a:t>
            </a:r>
          </a:p>
          <a:p>
            <a:pPr algn="ctr"/>
            <a:r>
              <a:rPr sz="2200" b="0" i="0">
                <a:solidFill>
                  <a:srgbClr val="666666"/>
                </a:solidFill>
              </a:rPr>
              <a:t>Reproducing </a:t>
            </a:r>
            <a:r>
              <a:rPr sz="2200" b="0" i="0">
                <a:solidFill>
                  <a:srgbClr val="C97B2C"/>
                </a:solidFill>
              </a:rPr>
              <a:t>ViDoRe v3</a:t>
            </a:r>
            <a:r>
              <a:rPr sz="2200" b="0" i="0">
                <a:solidFill>
                  <a:srgbClr val="666666"/>
                </a:solidFill>
              </a:rPr>
              <a:t> with open-weights models</a:t>
            </a:r>
          </a:p>
          <a:p>
            <a:pPr algn="ctr"/>
            <a:r>
              <a:rPr sz="1300" b="0" i="0">
                <a:solidFill>
                  <a:srgbClr val="1D1D1D"/>
                </a:solidFill>
              </a:rPr>
              <a:t>Alain Fidahoussen · Munyeong Kim · Aftab Gazali</a:t>
            </a:r>
          </a:p>
          <a:p>
            <a:pPr algn="ctr"/>
            <a:r>
              <a:rPr sz="1100" b="0" i="1">
                <a:solidFill>
                  <a:srgbClr val="666666"/>
                </a:solidFill>
              </a:rPr>
              <a:t>Université de Montréal · MILA</a:t>
            </a:r>
          </a:p>
        </p:txBody>
      </p:sp>
      <p:sp>
        <p:nvSpPr>
          <p:cNvPr id="3" name="Rectangle 2"/>
          <p:cNvSpPr/>
          <p:nvPr/>
        </p:nvSpPr>
        <p:spPr>
          <a:xfrm>
            <a:off x="792000" y="2664000"/>
            <a:ext cx="41220000" cy="18000"/>
          </a:xfrm>
          <a:prstGeom prst="rect">
            <a:avLst/>
          </a:prstGeom>
          <a:solidFill>
            <a:srgbClr val="1D1D1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92000" y="3168000"/>
            <a:ext cx="9927000" cy="396000"/>
          </a:xfrm>
          <a:prstGeom prst="rect">
            <a:avLst/>
          </a:prstGeom>
          <a:solidFill>
            <a:srgbClr val="1B3A6B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00000" y="3204000"/>
            <a:ext cx="9783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</a:rPr>
              <a:t>Why hybrid RAG?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3672000"/>
            <a:ext cx="9927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1D1D1D"/>
                </a:solidFill>
              </a:rPr>
              <a:t>RAG pipelines over visually rich PDFs face a basic tension: the answer may live in text (paragraphs, tables) or in visual elements (charts, figures, handwriting) that text extractors drop or flatten.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000" y="4500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Textual retrieval: </a:t>
            </a:r>
            <a:r>
              <a:rPr sz="1000" b="0" i="0">
                <a:solidFill>
                  <a:srgbClr val="1D1D1D"/>
                </a:solidFill>
              </a:rPr>
              <a:t>parser → markdown → dense embedding. Precise on text; blind to figures.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000" y="4770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Visual retrieval: </a:t>
            </a:r>
            <a:r>
              <a:rPr sz="1000" b="0" i="0">
                <a:solidFill>
                  <a:srgbClr val="1D1D1D"/>
                </a:solidFill>
              </a:rPr>
              <a:t>page-image encoder (ColPali / ColEmbed). Sees layout and figures; less precise on fine-grained text.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5076000"/>
            <a:ext cx="9927000" cy="1260000"/>
          </a:xfrm>
          <a:prstGeom prst="rect">
            <a:avLst/>
          </a:prstGeom>
          <a:solidFill>
            <a:srgbClr val="FDF5E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2000" y="5076000"/>
            <a:ext cx="72000" cy="1260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6000" y="5148000"/>
            <a:ext cx="9711000" cy="11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1D1D1D"/>
                </a:solidFill>
              </a:rPr>
              <a:t>Hybrid concatenates the top-k of both streams and feeds them to a multimodal generator. The intuition: the two streams capture complementary evidence. Does that hold in practice?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6444000"/>
            <a:ext cx="9927000" cy="396000"/>
          </a:xfrm>
          <a:prstGeom prst="rect">
            <a:avLst/>
          </a:prstGeom>
          <a:solidFill>
            <a:srgbClr val="1B3A6B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0000" y="6480000"/>
            <a:ext cx="9783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</a:rPr>
              <a:t>Visual retrieval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6948000"/>
            <a:ext cx="9927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1D1D1D"/>
                </a:solidFill>
              </a:rPr>
              <a:t>Each PDF page is encoded as pixels by a vision-language model, once, offline. No OCR, no markdown, no chunking. A page is its own atom.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000" y="7596000"/>
            <a:ext cx="54000" cy="252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6000" y="7560000"/>
            <a:ext cx="9783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B3A6B"/>
                </a:solidFill>
              </a:rPr>
              <a:t>ColPali (Faysse et al., 2025)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000" y="7920000"/>
            <a:ext cx="9927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1D1D1D"/>
                </a:solidFill>
              </a:rPr>
              <a:t>Late interaction: encodes each page into one embedding per image patch, each query into one per token. Scoring uses MaxSim: for every query token, find its closest page patch; sum those best-match scores. A query "what is the Q3 revenue?" can match "Q3" to the table column and "revenue" to the row.</a:t>
            </a:r>
          </a:p>
        </p:txBody>
      </p:sp>
      <p:pic>
        <p:nvPicPr>
          <p:cNvPr id="18" name="Picture 17" descr="colpali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8748000"/>
            <a:ext cx="9927000" cy="3655372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792000" y="12547372"/>
            <a:ext cx="54000" cy="252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6000" y="12511372"/>
            <a:ext cx="9783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B3A6B"/>
                </a:solidFill>
              </a:rPr>
              <a:t>ColEmbed (Xu et al., 2025) — our visual stream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000" y="12871372"/>
            <a:ext cx="9927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1D1D1D"/>
                </a:solidFill>
              </a:rPr>
              <a:t>Same late-interaction architecture with two upgrades: (i) stronger backbone Llama-Nemotron (NVIDIA's document-focused VLM); (ii) broader synthetic query-page training with hard-negative mining.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2000" y="13627372"/>
            <a:ext cx="9927000" cy="396000"/>
          </a:xfrm>
          <a:prstGeom prst="rect">
            <a:avLst/>
          </a:prstGeom>
          <a:solidFill>
            <a:srgbClr val="1B3A6B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0000" y="13663372"/>
            <a:ext cx="9783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</a:rPr>
              <a:t>The ViDoRe v3 benchmark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2000" y="14131372"/>
            <a:ext cx="9927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1D1D1D"/>
                </a:solidFill>
              </a:rPr>
              <a:t>Loison et al. (2026): 10 corpora, 26 000 pages, 3 099 human-verified queries in 6 languages. We evaluate on 5 public subsets (3 EN + 2 FR): 10 673 pages, 2 132 queries.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14923372"/>
            <a:ext cx="54000" cy="252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6000" y="14887372"/>
            <a:ext cx="9783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B3A6B"/>
                </a:solidFill>
              </a:rPr>
              <a:t>What makes it hard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000" y="15247372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Visually rich documents: </a:t>
            </a:r>
            <a:r>
              <a:rPr sz="1000" b="0" i="0">
                <a:solidFill>
                  <a:srgbClr val="1D1D1D"/>
                </a:solidFill>
              </a:rPr>
              <a:t>annual reports, scientific books, pharma regulations.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000" y="15517372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7 query types: </a:t>
            </a:r>
            <a:r>
              <a:rPr sz="1000" b="0" i="0">
                <a:solidFill>
                  <a:srgbClr val="1D1D1D"/>
                </a:solidFill>
              </a:rPr>
              <a:t>from open-ended synthesis to single-number lookup.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000" y="15787372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Cross-lingual: </a:t>
            </a:r>
            <a:r>
              <a:rPr sz="1000" b="0" i="0">
                <a:solidFill>
                  <a:srgbClr val="1D1D1D"/>
                </a:solidFill>
              </a:rPr>
              <a:t>queries in 6 languages paired with EN or FR source documents.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4000" y="16057372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Decoupled evaluation: </a:t>
            </a:r>
            <a:r>
              <a:rPr sz="1000" b="0" i="0">
                <a:solidFill>
                  <a:srgbClr val="1D1D1D"/>
                </a:solidFill>
              </a:rPr>
              <a:t>best retriever is not always best generator (NDCG@10 vs pass@1).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223000" y="3168000"/>
            <a:ext cx="9927000" cy="396000"/>
          </a:xfrm>
          <a:prstGeom prst="rect">
            <a:avLst/>
          </a:prstGeom>
          <a:solidFill>
            <a:srgbClr val="1B3A6B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331000" y="3204000"/>
            <a:ext cx="9783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223000" y="3672000"/>
            <a:ext cx="9927000" cy="1080000"/>
          </a:xfrm>
          <a:prstGeom prst="rect">
            <a:avLst/>
          </a:prstGeom>
          <a:solidFill>
            <a:srgbClr val="FDF5E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223000" y="3672000"/>
            <a:ext cx="72000" cy="1080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367000" y="3744000"/>
            <a:ext cx="9711000" cy="93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1D1D1D"/>
                </a:solidFill>
              </a:rPr>
              <a:t>Question: with the text stream fixed at DeepSeek-OCR-2 + Jina v4 + zerank-2, does adding a visual stream (ColEmbed) improve end-to-end answer accuracy?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223000" y="4896000"/>
            <a:ext cx="54000" cy="252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367000" y="4860000"/>
            <a:ext cx="9783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B3A6B"/>
                </a:solidFill>
              </a:rPr>
              <a:t>Pipeline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5000" y="5220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Text stream: </a:t>
            </a:r>
            <a:r>
              <a:rPr sz="1000" b="0" i="0">
                <a:solidFill>
                  <a:srgbClr val="1D1D1D"/>
                </a:solidFill>
              </a:rPr>
              <a:t>PDF → DeepSeek-OCR-2 → markdown → Jina v4 (dense vectors) → zerank-2 (reranker) → Top-5 text pages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5000" y="5490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Image stream: </a:t>
            </a:r>
            <a:r>
              <a:rPr sz="1000" b="0" i="0">
                <a:solidFill>
                  <a:srgbClr val="1D1D1D"/>
                </a:solidFill>
              </a:rPr>
              <a:t>PDF page images → ColEmbed (image encoder) → Top-5 image pages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95000" y="5760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Fusion + eval: </a:t>
            </a:r>
            <a:r>
              <a:rPr sz="1000" b="0" i="0">
                <a:solidFill>
                  <a:srgbClr val="1D1D1D"/>
                </a:solidFill>
              </a:rPr>
              <a:t>Top-5 text + Top-5 image → qwen3.5:35b (generator) → Answer → llama3.1:8b (judge) → pass@1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223000" y="6102000"/>
            <a:ext cx="54000" cy="252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367000" y="6066000"/>
            <a:ext cx="9783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B3A6B"/>
                </a:solidFill>
              </a:rPr>
              <a:t>Model choices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295000" y="6426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DeepSeek-OCR-2: </a:t>
            </a:r>
            <a:r>
              <a:rPr sz="1000" b="0" i="0">
                <a:solidFill>
                  <a:srgbClr val="1D1D1D"/>
                </a:solidFill>
              </a:rPr>
              <a:t>open-weights document OCR with layout-preserving markdown (HTML tables, LaTeX)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95000" y="6696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qwen3.5:35b: </a:t>
            </a:r>
            <a:r>
              <a:rPr sz="1000" b="0" i="0">
                <a:solidFill>
                  <a:srgbClr val="1D1D1D"/>
                </a:solidFill>
              </a:rPr>
              <a:t>multimodal generator, Q4-quantized MoE, fits on one 48 GB GPU, 262k context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95000" y="6966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llama3.1:8b: </a:t>
            </a:r>
            <a:r>
              <a:rPr sz="1000" b="0" i="0">
                <a:solidFill>
                  <a:srgbClr val="1D1D1D"/>
                </a:solidFill>
              </a:rPr>
              <a:t>judge from a different model family (Meta vs Alibaba) to reduce self-preference bias; EN + FR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223000" y="7272000"/>
            <a:ext cx="9927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</a:rPr>
              <a:t>All components are open-weights and run on a single GPU.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1223000" y="7632000"/>
            <a:ext cx="54000" cy="252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367000" y="7596000"/>
            <a:ext cx="9783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B3A6B"/>
                </a:solidFill>
              </a:rPr>
              <a:t>DeepSeek-OCR-2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23000" y="7956000"/>
            <a:ext cx="9927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1D1D1D"/>
                </a:solidFill>
              </a:rPr>
              <a:t>Instead of consuming visual tokens top-left to bottom-right, learnable causal flow queries re-order them to a more logical reading path — preserving document structure in the output markdown.</a:t>
            </a:r>
          </a:p>
        </p:txBody>
      </p:sp>
      <p:pic>
        <p:nvPicPr>
          <p:cNvPr id="50" name="Picture 49" descr="deepseek_ocr2_fig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3000" y="8568000"/>
            <a:ext cx="9927000" cy="3209730"/>
          </a:xfrm>
          <a:prstGeom prst="rect">
            <a:avLst/>
          </a:prstGeom>
        </p:spPr>
      </p:pic>
      <p:sp>
        <p:nvSpPr>
          <p:cNvPr id="51" name="Rectangle 50"/>
          <p:cNvSpPr/>
          <p:nvPr/>
        </p:nvSpPr>
        <p:spPr>
          <a:xfrm>
            <a:off x="11223000" y="11921730"/>
            <a:ext cx="54000" cy="252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367000" y="11885730"/>
            <a:ext cx="9783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B3A6B"/>
                </a:solidFill>
              </a:rPr>
              <a:t>Experimental conditions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295000" y="1224573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jina_nemo / jina_deepseek: </a:t>
            </a:r>
            <a:r>
              <a:rPr sz="1000" b="0" i="0">
                <a:solidFill>
                  <a:srgbClr val="1D1D1D"/>
                </a:solidFill>
              </a:rPr>
              <a:t>text only, top-5, no reranker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295000" y="1251573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jina_nemo_reranked / jina_deepseek_reranked: </a:t>
            </a:r>
            <a:r>
              <a:rPr sz="1000" b="0" i="0">
                <a:solidFill>
                  <a:srgbClr val="1D1D1D"/>
                </a:solidFill>
              </a:rPr>
              <a:t>text only, top-5, zerank-2 reranker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95000" y="1278573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colembed: </a:t>
            </a:r>
            <a:r>
              <a:rPr sz="1000" b="0" i="0">
                <a:solidFill>
                  <a:srgbClr val="1D1D1D"/>
                </a:solidFill>
              </a:rPr>
              <a:t>image only, top-5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295000" y="1305573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hybrid_nemo / hybrid_deepseek: </a:t>
            </a:r>
            <a:r>
              <a:rPr sz="1000" b="0" i="0">
                <a:solidFill>
                  <a:srgbClr val="1D1D1D"/>
                </a:solidFill>
              </a:rPr>
              <a:t>image top-5 + text top-5, zerank-2 on text stream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1654000" y="3168000"/>
            <a:ext cx="9927000" cy="396000"/>
          </a:xfrm>
          <a:prstGeom prst="rect">
            <a:avLst/>
          </a:prstGeom>
          <a:solidFill>
            <a:srgbClr val="1B3A6B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1762000" y="3204000"/>
            <a:ext cx="9783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</a:rPr>
              <a:t>Results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1654000" y="3708000"/>
            <a:ext cx="54000" cy="252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1798000" y="3672000"/>
            <a:ext cx="9783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B3A6B"/>
                </a:solidFill>
              </a:rPr>
              <a:t>Retrieval quality (NDCG@10)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21654000" y="4032000"/>
          <a:ext cx="9927000" cy="151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63500"/>
                <a:gridCol w="2481750"/>
                <a:gridCol w="2481750"/>
              </a:tblGrid>
              <a:tr h="21600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B3A6B"/>
                          </a:solidFill>
                        </a:defRPr>
                      </a:pPr>
                      <a:r>
                        <a:t>Subset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B3A6B"/>
                          </a:solidFill>
                        </a:defRPr>
                      </a:pPr>
                      <a:r>
                        <a:t>ColEmbed (image)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B3A6B"/>
                          </a:solidFill>
                        </a:defRPr>
                      </a:pPr>
                      <a:r>
                        <a:t>Jina + zerank-2 (text)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computer_science (EN)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78.0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82.4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finance_en (EN)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68.6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65.7</a:t>
                      </a:r>
                    </a:p>
                  </a:txBody>
                  <a:tcPr/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pharmaceuticals (EN)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67.2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65.1</a:t>
                      </a:r>
                    </a:p>
                  </a:txBody>
                  <a:tcPr/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physics (FR)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47.8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46.6</a:t>
                      </a:r>
                    </a:p>
                  </a:txBody>
                  <a:tcPr/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finance_fr (FR)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47.6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48.1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avg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61.8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61.6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2" name="Rectangle 61"/>
          <p:cNvSpPr/>
          <p:nvPr/>
        </p:nvSpPr>
        <p:spPr>
          <a:xfrm>
            <a:off x="21654000" y="5724000"/>
            <a:ext cx="54000" cy="252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1798000" y="5688000"/>
            <a:ext cx="9783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B3A6B"/>
                </a:solidFill>
              </a:rPr>
              <a:t>End-to-end accuracy (pass@1 %)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21654000" y="6048000"/>
          <a:ext cx="9927000" cy="151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76640"/>
                <a:gridCol w="1687590"/>
                <a:gridCol w="1687590"/>
                <a:gridCol w="1687590"/>
                <a:gridCol w="1687590"/>
              </a:tblGrid>
              <a:tr h="21600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B3A6B"/>
                          </a:solidFill>
                        </a:defRPr>
                      </a:pPr>
                      <a:r>
                        <a:t>Subset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B3A6B"/>
                          </a:solidFill>
                        </a:defRPr>
                      </a:pPr>
                      <a:r>
                        <a:t>Closed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B3A6B"/>
                          </a:solidFill>
                        </a:defRPr>
                      </a:pPr>
                      <a:r>
                        <a:t>Image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B3A6B"/>
                          </a:solidFill>
                        </a:defRPr>
                      </a:pPr>
                      <a:r>
                        <a:t>Text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B3A6B"/>
                          </a:solidFill>
                        </a:defRPr>
                      </a:pPr>
                      <a:r>
                        <a:t>Hybrid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computer_science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91.6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93.0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95.3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95.3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finance_en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56.0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74.8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79.0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81.6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pharmaceuticals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68.4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83.2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88.5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89.3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physics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87.8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83.1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90.1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89.7</a:t>
                      </a:r>
                    </a:p>
                  </a:txBody>
                  <a:tcPr/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finance_fr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40.6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70.3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80.3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77.2</a:t>
                      </a:r>
                    </a:p>
                  </a:txBody>
                  <a:tcPr/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avg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68.9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80.9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86.6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86.6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</a:tr>
            </a:tbl>
          </a:graphicData>
        </a:graphic>
      </p:graphicFrame>
      <p:sp>
        <p:nvSpPr>
          <p:cNvPr id="65" name="Rectangle 64"/>
          <p:cNvSpPr/>
          <p:nvPr/>
        </p:nvSpPr>
        <p:spPr>
          <a:xfrm>
            <a:off x="21654000" y="7740000"/>
            <a:ext cx="54000" cy="252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1798000" y="7704000"/>
            <a:ext cx="9783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B3A6B"/>
                </a:solidFill>
              </a:rPr>
              <a:t>pass@1 by query type (all subsets pooled)</a:t>
            </a:r>
          </a:p>
        </p:txBody>
      </p:sp>
      <p:graphicFrame>
        <p:nvGraphicFramePr>
          <p:cNvPr id="67" name="Table 66"/>
          <p:cNvGraphicFramePr>
            <a:graphicFrameLocks noGrp="1"/>
          </p:cNvGraphicFramePr>
          <p:nvPr/>
        </p:nvGraphicFramePr>
        <p:xfrm>
          <a:off x="21654000" y="8064000"/>
          <a:ext cx="9927000" cy="17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76640"/>
                <a:gridCol w="1687590"/>
                <a:gridCol w="1687590"/>
                <a:gridCol w="1687590"/>
                <a:gridCol w="1687590"/>
              </a:tblGrid>
              <a:tr h="21600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B3A6B"/>
                          </a:solidFill>
                        </a:defRPr>
                      </a:pPr>
                      <a:r>
                        <a:t>Query type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B3A6B"/>
                          </a:solidFill>
                        </a:defRPr>
                      </a:pPr>
                      <a:r>
                        <a:t>Closed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B3A6B"/>
                          </a:solidFill>
                        </a:defRPr>
                      </a:pPr>
                      <a:r>
                        <a:t>Image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B3A6B"/>
                          </a:solidFill>
                        </a:defRPr>
                      </a:pPr>
                      <a:r>
                        <a:t>Text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B3A6B"/>
                          </a:solidFill>
                        </a:defRPr>
                      </a:pPr>
                      <a:r>
                        <a:t>Hybrid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numerical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36.4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70.4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70.7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74.1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extractive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54.3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77.4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83.1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82.6</a:t>
                      </a:r>
                    </a:p>
                  </a:txBody>
                  <a:tcPr/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multi-hop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68.6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84.7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84.7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91.5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enumerative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60.3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75.8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83.5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80.9</a:t>
                      </a:r>
                    </a:p>
                  </a:txBody>
                  <a:tcPr/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boolean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72.1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85.0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93.2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991B1B"/>
                          </a:solidFill>
                        </a:defRPr>
                      </a:pPr>
                      <a:r>
                        <a:t>87.8</a:t>
                      </a:r>
                    </a:p>
                  </a:txBody>
                  <a:tcPr>
                    <a:solidFill>
                      <a:srgbClr val="FBE6E6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compare-contrast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71.9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80.8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84.6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85.3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open-ended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82.8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82.6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91.9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91.5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8" name="Rectangle 67"/>
          <p:cNvSpPr/>
          <p:nvPr/>
        </p:nvSpPr>
        <p:spPr>
          <a:xfrm>
            <a:off x="32085000" y="3168000"/>
            <a:ext cx="9927000" cy="396000"/>
          </a:xfrm>
          <a:prstGeom prst="rect">
            <a:avLst/>
          </a:prstGeom>
          <a:solidFill>
            <a:srgbClr val="1B3A6B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2193000" y="3204000"/>
            <a:ext cx="9783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</a:rPr>
              <a:t>Does image retrieval help?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2085000" y="3672000"/>
            <a:ext cx="9927000" cy="360000"/>
          </a:xfrm>
          <a:prstGeom prst="rect">
            <a:avLst/>
          </a:prstGeom>
          <a:solidFill>
            <a:srgbClr val="FDF5E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2085000" y="3672000"/>
            <a:ext cx="72000" cy="360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2229000" y="3744000"/>
            <a:ext cx="9711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1D1D1D"/>
                </a:solidFill>
              </a:rPr>
              <a:t>Sometimes. It depends on the query.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2085000" y="4176000"/>
            <a:ext cx="54000" cy="252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2229000" y="4140000"/>
            <a:ext cx="9783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B3A6B"/>
                </a:solidFill>
              </a:rPr>
              <a:t>When images help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2157000" y="4500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Multi-hop: </a:t>
            </a:r>
            <a:r>
              <a:rPr sz="1000" b="0" i="0">
                <a:solidFill>
                  <a:srgbClr val="1D1D1D"/>
                </a:solidFill>
              </a:rPr>
              <a:t>+6.8 pts over text: two streams retrieve different pages, giving the generator broader coverage.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2157000" y="4770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Numerical: </a:t>
            </a:r>
            <a:r>
              <a:rPr sz="1000" b="0" i="0">
                <a:solidFill>
                  <a:srgbClr val="1D1D1D"/>
                </a:solidFill>
              </a:rPr>
              <a:t>+3.4 pts: visual table layout preserves row/column structure that OCR partly loses.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2085000" y="5112000"/>
            <a:ext cx="54000" cy="252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2229000" y="5076000"/>
            <a:ext cx="9783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B3A6B"/>
                </a:solidFill>
              </a:rPr>
              <a:t>When images don't help (or hurt)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2157000" y="5436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Boolean: </a:t>
            </a:r>
            <a:r>
              <a:rPr sz="1000" b="0" i="0">
                <a:solidFill>
                  <a:srgbClr val="1D1D1D"/>
                </a:solidFill>
              </a:rPr>
              <a:t>-5.4 pts: text already retrieves the fact; extra image pages dilute the prompt.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2157000" y="5706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Extractive / open-ended: </a:t>
            </a:r>
            <a:r>
              <a:rPr sz="1000" b="0" i="0">
                <a:solidFill>
                  <a:srgbClr val="1D1D1D"/>
                </a:solidFill>
              </a:rPr>
              <a:t>flat (±1 pt). The answer lives in a text span the text retriever already finds.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2085000" y="6012000"/>
            <a:ext cx="9927000" cy="396000"/>
          </a:xfrm>
          <a:prstGeom prst="rect">
            <a:avLst/>
          </a:prstGeom>
          <a:solidFill>
            <a:srgbClr val="1B3A6B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2193000" y="6048000"/>
            <a:ext cx="9783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</a:rPr>
              <a:t>Takeaways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2157000" y="6516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86.6% tie hides variation: </a:t>
            </a:r>
            <a:r>
              <a:rPr sz="1000" b="0" i="0">
                <a:solidFill>
                  <a:srgbClr val="1D1D1D"/>
                </a:solidFill>
              </a:rPr>
              <a:t>Hybrid wins on multi-hop (+6.8) and numerical (+3.4); text wins on boolean (+5.4).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2157000" y="6786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Strong text baseline: </a:t>
            </a:r>
            <a:r>
              <a:rPr sz="1000" b="0" i="0">
                <a:solidFill>
                  <a:srgbClr val="1D1D1D"/>
                </a:solidFill>
              </a:rPr>
              <a:t>DeepSeek + Jina + zerank-2 matches hybrid at half the retrieval cost (5 vs 10 pages).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2157000" y="7056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Retrieval value: </a:t>
            </a:r>
            <a:r>
              <a:rPr sz="1000" b="0" i="0">
                <a:solidFill>
                  <a:srgbClr val="1D1D1D"/>
                </a:solidFill>
              </a:rPr>
              <a:t>+37.7 pts on numerical, +28.3 on extractive, only +8.7 on open-ended over closed-book.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2157000" y="7326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Generator bottleneck: </a:t>
            </a:r>
            <a:r>
              <a:rPr sz="1000" b="0" i="0">
                <a:solidFill>
                  <a:srgbClr val="1D1D1D"/>
                </a:solidFill>
              </a:rPr>
              <a:t>ViDoRe v3 reports +2.6 pts with Gemini 3 Pro. Our null result reflects a weaker vision stack.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2085000" y="7632000"/>
            <a:ext cx="9927000" cy="396000"/>
          </a:xfrm>
          <a:prstGeom prst="rect">
            <a:avLst/>
          </a:prstGeom>
          <a:solidFill>
            <a:srgbClr val="1B3A6B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2193000" y="7668000"/>
            <a:ext cx="9783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</a:rPr>
              <a:t>Limitations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2085000" y="8172000"/>
            <a:ext cx="54000" cy="252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2229000" y="8136000"/>
            <a:ext cx="9783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B3A6B"/>
                </a:solidFill>
              </a:rPr>
              <a:t>LLM choices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2157000" y="8496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Generator qwen3.5:35b: </a:t>
            </a:r>
            <a:r>
              <a:rPr sz="1000" b="0" i="0">
                <a:solidFill>
                  <a:srgbClr val="1D1D1D"/>
                </a:solidFill>
              </a:rPr>
              <a:t>vision stack weaker than frontier closed models (Gemini 3 Pro, GPT-5.2).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2157000" y="8766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Judge llama3.1:8b: </a:t>
            </a:r>
            <a:r>
              <a:rPr sz="1000" b="0" i="0">
                <a:solidFill>
                  <a:srgbClr val="1D1D1D"/>
                </a:solidFill>
              </a:rPr>
              <a:t>verbosity bias: longer answers rewarded. Hybrid answers tend to be longer.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2085000" y="9108000"/>
            <a:ext cx="54000" cy="252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2229000" y="9072000"/>
            <a:ext cx="9783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B3A6B"/>
                </a:solidFill>
              </a:rPr>
              <a:t>Benchmark and evaluation design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2157000" y="9432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Binary pass@1: </a:t>
            </a:r>
            <a:r>
              <a:rPr sz="1000" b="0" i="0">
                <a:solidFill>
                  <a:srgbClr val="1D1D1D"/>
                </a:solidFill>
              </a:rPr>
              <a:t>near-miss and complete miss treated identically. No partial credit.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2157000" y="9702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No human spot-check: </a:t>
            </a:r>
            <a:r>
              <a:rPr sz="1000" b="0" i="0">
                <a:solidFill>
                  <a:srgbClr val="1D1D1D"/>
                </a:solidFill>
              </a:rPr>
              <a:t>all judgments from LLM judge with no human validation.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2157000" y="9972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Fixed fusion: </a:t>
            </a:r>
            <a:r>
              <a:rPr sz="1000" b="0" i="0">
                <a:solidFill>
                  <a:srgbClr val="1D1D1D"/>
                </a:solidFill>
              </a:rPr>
              <a:t>always top-5+top-5, no deduplication; same page can appear twice.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2157000" y="10242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Domain-specific corpora: </a:t>
            </a:r>
            <a:r>
              <a:rPr sz="1000" b="0" i="0">
                <a:solidFill>
                  <a:srgbClr val="1D1D1D"/>
                </a:solidFill>
              </a:rPr>
              <a:t>CS, finance, pharma only. May not transfer to general-purpose RAG.</a:t>
            </a:r>
          </a:p>
        </p:txBody>
      </p:sp>
      <p:sp>
        <p:nvSpPr>
          <p:cNvPr id="99" name="Rectangle 98"/>
          <p:cNvSpPr/>
          <p:nvPr/>
        </p:nvSpPr>
        <p:spPr>
          <a:xfrm>
            <a:off x="32085000" y="10548000"/>
            <a:ext cx="9927000" cy="396000"/>
          </a:xfrm>
          <a:prstGeom prst="rect">
            <a:avLst/>
          </a:prstGeom>
          <a:solidFill>
            <a:srgbClr val="1B3A6B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2193000" y="10584000"/>
            <a:ext cx="9783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</a:rPr>
              <a:t>Future work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2157000" y="11052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Stronger generators: </a:t>
            </a:r>
            <a:r>
              <a:rPr sz="1000" b="0" i="0">
                <a:solidFill>
                  <a:srgbClr val="1D1D1D"/>
                </a:solidFill>
              </a:rPr>
              <a:t>Gemini 3 Pro, Qwen3-VL-235B to isolate generator-capability effect.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2157000" y="11322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Verbosity control: </a:t>
            </a:r>
            <a:r>
              <a:rPr sz="1000" b="0" i="0">
                <a:solidFill>
                  <a:srgbClr val="1D1D1D"/>
                </a:solidFill>
              </a:rPr>
              <a:t>Controlled-verbosity prompt and judge swap to rule out bias.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2157000" y="11592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Adaptive fusion: </a:t>
            </a:r>
            <a:r>
              <a:rPr sz="1000" b="0" i="0">
                <a:solidFill>
                  <a:srgbClr val="1D1D1D"/>
                </a:solidFill>
              </a:rPr>
              <a:t>Weighted combination, deduplication, query-type routing.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2157000" y="11862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Figure captioning: </a:t>
            </a:r>
            <a:r>
              <a:rPr sz="1000" b="0" i="0">
                <a:solidFill>
                  <a:srgbClr val="1D1D1D"/>
                </a:solidFill>
              </a:rPr>
              <a:t>Close the figure-placeholder blind spot in the text stream.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92000" y="22716000"/>
            <a:ext cx="41220000" cy="18000"/>
          </a:xfrm>
          <a:prstGeom prst="rect">
            <a:avLst/>
          </a:prstGeom>
          <a:solidFill>
            <a:srgbClr val="CCCCC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92000" y="22752000"/>
            <a:ext cx="412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666666"/>
                </a:solidFill>
              </a:rPr>
              <a:t>Text parser: DeepSeek-OCR-2  ·  Text retriever: Jina v4  ·  Reranker: zerank-2  ·  Visual retriever: ColEmbed (Llama-Nemotron 3B v2)  ·  Generator: qwen3.5:35b  ·  Judge: llama3.1:8b  ·  Benchmark: ViDoRe v3 (Loison et al., 2026)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