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2804000" cy="235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792000"/>
            <a:ext cx="4122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B3A6B"/>
                </a:solidFill>
              </a:rPr>
              <a:t>Reproducing </a:t>
            </a:r>
            <a:r>
              <a:rPr sz="3400" b="1" i="0">
                <a:solidFill>
                  <a:srgbClr val="C97B2C"/>
                </a:solidFill>
              </a:rPr>
              <a:t>ViDoRe v3</a:t>
            </a:r>
            <a:r>
              <a:rPr sz="3400" b="1" i="0">
                <a:solidFill>
                  <a:srgbClr val="1B3A6B"/>
                </a:solidFill>
              </a:rPr>
              <a:t> with open-weights models</a:t>
            </a:r>
          </a:p>
          <a:p>
            <a:r>
              <a:rPr sz="2000" b="0" i="0">
                <a:solidFill>
                  <a:srgbClr val="C97B2C"/>
                </a:solidFill>
              </a:rPr>
              <a:t>Does adding image retrieval help a strong text-based RAG?</a:t>
            </a:r>
          </a:p>
          <a:p>
            <a:r>
              <a:rPr sz="1300" b="0" i="0">
                <a:solidFill>
                  <a:srgbClr val="1D1D1D"/>
                </a:solidFill>
              </a:rPr>
              <a:t>Alain Fidahoussen · Munyeong Kim · Aftab Gazali</a:t>
            </a:r>
          </a:p>
          <a:p>
            <a:r>
              <a:rPr sz="1100" b="0" i="1">
                <a:solidFill>
                  <a:srgbClr val="666666"/>
                </a:solidFill>
              </a:rPr>
              <a:t>Université de Montréal · MILA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2664000"/>
            <a:ext cx="41220000" cy="18000"/>
          </a:xfrm>
          <a:prstGeom prst="rect">
            <a:avLst/>
          </a:prstGeom>
          <a:solidFill>
            <a:srgbClr val="1D1D1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Why hybrid RAG?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7200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RAG pipelines over visually rich PDFs face a basic tension: the answer may live in text (paragraphs, tables) or in visual elements (charts, figures, handwriting) that text extractors drop or flatten.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Textual retrieval: </a:t>
            </a:r>
            <a:r>
              <a:rPr sz="1000" b="0" i="0">
                <a:solidFill>
                  <a:srgbClr val="1D1D1D"/>
                </a:solidFill>
              </a:rPr>
              <a:t>parser → markdown → dense embedding. Precise on text; blind to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 retrieval: </a:t>
            </a:r>
            <a:r>
              <a:rPr sz="1000" b="0" i="0">
                <a:solidFill>
                  <a:srgbClr val="1D1D1D"/>
                </a:solidFill>
              </a:rPr>
              <a:t>page-image encoder (ColPali / ColEmbed). Sees layout and figures; less precise on fine-grained text.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5076000"/>
            <a:ext cx="9927000" cy="12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5076000"/>
            <a:ext cx="72000" cy="12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5148000"/>
            <a:ext cx="97110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Hybrid concatenates the top-k of both streams and feeds them to a multimodal generator. The intuition: the two streams capture complementary evidence. Does that hold in practice?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6444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6480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Visual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948000"/>
            <a:ext cx="9927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Each PDF page is encoded as pixels by a vision-language model, once, offline. No OCR, no markdown, no chunking. A page is its own atom.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75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75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ColPali (Faysse et al., 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7920000"/>
            <a:ext cx="9927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Late interaction: encodes each page into one embedding per image patch, each query into one per token. Scoring uses MaxSim: for every query token, find its closest page patch; sum those best-match scores. A query "what is the Q3 revenue?" can match "Q3" to the table column and "revenue" to the row.</a:t>
            </a:r>
          </a:p>
        </p:txBody>
      </p:sp>
      <p:pic>
        <p:nvPicPr>
          <p:cNvPr id="18" name="Picture 17" descr="colpali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8748000"/>
            <a:ext cx="9927000" cy="3655372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92000" y="12547372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" y="12511372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ColEmbed (Xu et al., 2025) — our visual stream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12871372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Same late-interaction architecture with two upgrades: (i) stronger backbone Llama-Nemotron (NVIDIA's document-focused VLM); (ii) broader synthetic query-page training with hard-negative mining.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13627372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13663372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The ViDoRe v3 benchmark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000" y="14131372"/>
            <a:ext cx="9927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Loison et al. (2026): 10 corpora, 26 000 pages, 3 099 human-verified queries in 6 languages. We evaluate on 5 public subsets (3 EN + 2 FR): 10 673 pages, 2 132 queries.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14923372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000" y="14887372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What makes it hard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" y="1524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Visually rich documents: </a:t>
            </a:r>
            <a:r>
              <a:rPr sz="1000" b="0" i="0">
                <a:solidFill>
                  <a:srgbClr val="1D1D1D"/>
                </a:solidFill>
              </a:rPr>
              <a:t>annual reports, scientific books, pharma regulations.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000" y="1551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7 query types: </a:t>
            </a:r>
            <a:r>
              <a:rPr sz="1000" b="0" i="0">
                <a:solidFill>
                  <a:srgbClr val="1D1D1D"/>
                </a:solidFill>
              </a:rPr>
              <a:t>from open-ended synthesis to single-number lookup.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000" y="1578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Cross-lingual: </a:t>
            </a:r>
            <a:r>
              <a:rPr sz="1000" b="0" i="0">
                <a:solidFill>
                  <a:srgbClr val="1D1D1D"/>
                </a:solidFill>
              </a:rPr>
              <a:t>queries in 6 languages paired with EN or FR source documents.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000" y="16057372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Decoupled evaluation: </a:t>
            </a:r>
            <a:r>
              <a:rPr sz="1000" b="0" i="0">
                <a:solidFill>
                  <a:srgbClr val="1D1D1D"/>
                </a:solidFill>
              </a:rPr>
              <a:t>best retriever is not always best generator (NDCG@10 vs pass@1).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223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1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23000" y="3672000"/>
            <a:ext cx="9927000" cy="108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3000" y="3672000"/>
            <a:ext cx="72000" cy="108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67000" y="3744000"/>
            <a:ext cx="9711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Question: with the text stream fixed at DeepSeek-OCR-2 + Jina v4 + zerank-2, does adding a visual stream (ColEmbed) improve end-to-end answer accuracy?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23000" y="489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67000" y="486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5000" y="522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Text stream: </a:t>
            </a:r>
            <a:r>
              <a:rPr sz="1000" b="0" i="0">
                <a:solidFill>
                  <a:srgbClr val="1D1D1D"/>
                </a:solidFill>
              </a:rPr>
              <a:t>PDF → DeepSeek-OCR-2 → markdown → Jina v4 (dense vectors) → zerank-2 (reranker) → Top-5 text pages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5000" y="549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Image stream: </a:t>
            </a:r>
            <a:r>
              <a:rPr sz="1000" b="0" i="0">
                <a:solidFill>
                  <a:srgbClr val="1D1D1D"/>
                </a:solidFill>
              </a:rPr>
              <a:t>PDF page images → ColEmbed (image encoder) → Top-5 image pages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95000" y="576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Fusion + eval: </a:t>
            </a:r>
            <a:r>
              <a:rPr sz="1000" b="0" i="0">
                <a:solidFill>
                  <a:srgbClr val="1D1D1D"/>
                </a:solidFill>
              </a:rPr>
              <a:t>Top-5 text + Top-5 image → qwen3.5:35b (generator) → Answer → llama3.1:8b (judge) → pass@1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223000" y="610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367000" y="606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Model choices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95000" y="64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DeepSeek-OCR-2: </a:t>
            </a:r>
            <a:r>
              <a:rPr sz="1000" b="0" i="0">
                <a:solidFill>
                  <a:srgbClr val="1D1D1D"/>
                </a:solidFill>
              </a:rPr>
              <a:t>open-weights document OCR with layout-preserving markdown (HTML tables, LaTeX)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95000" y="66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qwen3.5:35b: </a:t>
            </a:r>
            <a:r>
              <a:rPr sz="1000" b="0" i="0">
                <a:solidFill>
                  <a:srgbClr val="1D1D1D"/>
                </a:solidFill>
              </a:rPr>
              <a:t>multimodal generator, Q4-quantized MoE, fits on one 48 GB GPU, 262k context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95000" y="69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llama3.1:8b: </a:t>
            </a:r>
            <a:r>
              <a:rPr sz="1000" b="0" i="0">
                <a:solidFill>
                  <a:srgbClr val="1D1D1D"/>
                </a:solidFill>
              </a:rPr>
              <a:t>judge from a different model family (Meta vs Alibaba) to reduce self-preference bias; EN + FR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23000" y="7272000"/>
            <a:ext cx="9927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</a:rPr>
              <a:t>All components are open-weights and run on a single GPU.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23000" y="763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67000" y="759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DeepSeek-OCR-2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23000" y="7956000"/>
            <a:ext cx="9927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Instead of consuming visual tokens top-left to bottom-right, learnable causal flow queries re-order them to a more logical reading path — preserving document structure in the output markdown.</a:t>
            </a:r>
          </a:p>
        </p:txBody>
      </p:sp>
      <p:pic>
        <p:nvPicPr>
          <p:cNvPr id="50" name="Picture 49" descr="deepseek_ocr2_fig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3000" y="8568000"/>
            <a:ext cx="9927000" cy="320973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1223000" y="1192173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67000" y="1188573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Experimental conditions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95000" y="1224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 / jina_deepseek: </a:t>
            </a:r>
            <a:r>
              <a:rPr sz="1000" b="0" i="0">
                <a:solidFill>
                  <a:srgbClr val="1D1D1D"/>
                </a:solidFill>
              </a:rPr>
              <a:t>text only, top-5, no reranker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5000" y="1251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jina_nemo_reranked / jina_deepseek_reranked: </a:t>
            </a:r>
            <a:r>
              <a:rPr sz="1000" b="0" i="0">
                <a:solidFill>
                  <a:srgbClr val="1D1D1D"/>
                </a:solidFill>
              </a:rPr>
              <a:t>text only, top-5, zerank-2 reranker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95000" y="1278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colembed: </a:t>
            </a:r>
            <a:r>
              <a:rPr sz="1000" b="0" i="0">
                <a:solidFill>
                  <a:srgbClr val="1D1D1D"/>
                </a:solidFill>
              </a:rPr>
              <a:t>image only, top-5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95000" y="1305573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hybrid_nemo / hybrid_deepseek: </a:t>
            </a:r>
            <a:r>
              <a:rPr sz="1000" b="0" i="0">
                <a:solidFill>
                  <a:srgbClr val="1D1D1D"/>
                </a:solidFill>
              </a:rPr>
              <a:t>image top-5 + text top-5, zerank-2 on text stream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654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762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1654000" y="37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798000" y="36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Retrieval quality (NDCG@10)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21654000" y="4032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63500"/>
                <a:gridCol w="2481750"/>
                <a:gridCol w="248175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ColEmbed (image)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Jina + zerank-2 (text)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82.4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68.6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 (EN)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65.1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47.8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46.6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 (FR)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61.6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2" name="Rectangle 61"/>
          <p:cNvSpPr/>
          <p:nvPr/>
        </p:nvSpPr>
        <p:spPr>
          <a:xfrm>
            <a:off x="21654000" y="5724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798000" y="5688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End-to-end accuracy (pass@1 %)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21654000" y="6048000"/>
          <a:ext cx="9927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computer_science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81.6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pharmaceuticals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89.3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90.1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89.7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finance_fr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40.6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80.3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77.2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86.6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21654000" y="7740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798000" y="7704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pass@1 by query type (all subsets pooled)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21654000" y="8064000"/>
          <a:ext cx="9927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6640"/>
                <a:gridCol w="1687590"/>
                <a:gridCol w="1687590"/>
                <a:gridCol w="1687590"/>
                <a:gridCol w="1687590"/>
              </a:tblGrid>
              <a:tr h="2160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Query type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Image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Text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B3A6B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E9ECF2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numerical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74.1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multi-hop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enumerative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60.3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83.5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80.9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93.2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991B1B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>
                    <a:solidFill>
                      <a:srgbClr val="FBE6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compare-contrast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open-ended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82.6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166534"/>
                          </a:solidFill>
                        </a:defRPr>
                      </a:pPr>
                      <a:r>
                        <a:t>91.9</a:t>
                      </a:r>
                    </a:p>
                  </a:txBody>
                  <a:tcPr>
                    <a:solidFill>
                      <a:srgbClr val="E6F2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/>
                      </a:pPr>
                      <a:r>
                        <a:t>91.5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8" name="Rectangle 67"/>
          <p:cNvSpPr/>
          <p:nvPr/>
        </p:nvSpPr>
        <p:spPr>
          <a:xfrm>
            <a:off x="32085000" y="316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193000" y="320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Does image retrieval help?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85000" y="3672000"/>
            <a:ext cx="9927000" cy="360000"/>
          </a:xfrm>
          <a:prstGeom prst="rect">
            <a:avLst/>
          </a:prstGeom>
          <a:solidFill>
            <a:srgbClr val="FDF5E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2085000" y="3672000"/>
            <a:ext cx="72000" cy="360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229000" y="3744000"/>
            <a:ext cx="9711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1D1D1D"/>
                </a:solidFill>
              </a:rPr>
              <a:t>Sometimes. It depends on the query.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85000" y="4176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229000" y="4140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help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157000" y="450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Multi-hop: </a:t>
            </a:r>
            <a:r>
              <a:rPr sz="1000" b="0" i="0">
                <a:solidFill>
                  <a:srgbClr val="1D1D1D"/>
                </a:solidFill>
              </a:rPr>
              <a:t>+6.8 pts over text: two streams retrieve different pages, giving the generator broader coverage.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2157000" y="4770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Numerical: </a:t>
            </a:r>
            <a:r>
              <a:rPr sz="1000" b="0" i="0">
                <a:solidFill>
                  <a:srgbClr val="1D1D1D"/>
                </a:solidFill>
              </a:rPr>
              <a:t>+3.4 pts: visual table layout preserves row/column structure that OCR partly loses.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85000" y="511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2229000" y="507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When images don't help (or hurt)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157000" y="543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Boolean: </a:t>
            </a:r>
            <a:r>
              <a:rPr sz="1000" b="0" i="0">
                <a:solidFill>
                  <a:srgbClr val="1D1D1D"/>
                </a:solidFill>
              </a:rPr>
              <a:t>-5.4 pts: text already retrieves the fact; extra image pages dilute the prompt.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157000" y="570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Extractive / open-ended: </a:t>
            </a:r>
            <a:r>
              <a:rPr sz="1000" b="0" i="0">
                <a:solidFill>
                  <a:srgbClr val="1D1D1D"/>
                </a:solidFill>
              </a:rPr>
              <a:t>flat (±1 pt). The answer lives in a text span the text retriever already finds.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85000" y="601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193000" y="604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Takeaways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157000" y="651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86.6% tie hides variation: </a:t>
            </a:r>
            <a:r>
              <a:rPr sz="1000" b="0" i="0">
                <a:solidFill>
                  <a:srgbClr val="1D1D1D"/>
                </a:solidFill>
              </a:rPr>
              <a:t>Hybrid wins on multi-hop (+6.8) and numerical (+3.4); text wins on boolean (+5.4).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2157000" y="678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 text baseline: </a:t>
            </a:r>
            <a:r>
              <a:rPr sz="1000" b="0" i="0">
                <a:solidFill>
                  <a:srgbClr val="1D1D1D"/>
                </a:solidFill>
              </a:rPr>
              <a:t>DeepSeek + Jina + zerank-2 matches hybrid at half the retrieval cost (5 vs 10 pages).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157000" y="705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Retrieval value: </a:t>
            </a:r>
            <a:r>
              <a:rPr sz="1000" b="0" i="0">
                <a:solidFill>
                  <a:srgbClr val="1D1D1D"/>
                </a:solidFill>
              </a:rPr>
              <a:t>+37.7 pts on numerical, +28.3 on extractive, only +8.7 on open-ended over closed-book.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157000" y="732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bottleneck: </a:t>
            </a:r>
            <a:r>
              <a:rPr sz="1000" b="0" i="0">
                <a:solidFill>
                  <a:srgbClr val="1D1D1D"/>
                </a:solidFill>
              </a:rPr>
              <a:t>ViDoRe v3 reports +2.6 pts with Gemini 3 Pro. Our null result reflects a weaker vision stack.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2085000" y="7632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2193000" y="7668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Limitations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85000" y="8172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2229000" y="8136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LLM choices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157000" y="849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Generator qwen3.5:35b: </a:t>
            </a:r>
            <a:r>
              <a:rPr sz="1000" b="0" i="0">
                <a:solidFill>
                  <a:srgbClr val="1D1D1D"/>
                </a:solidFill>
              </a:rPr>
              <a:t>vision stack weaker than frontier closed models (Gemini 3 Pro, GPT-5.2).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157000" y="8766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Judge llama3.1:8b: </a:t>
            </a:r>
            <a:r>
              <a:rPr sz="1000" b="0" i="0">
                <a:solidFill>
                  <a:srgbClr val="1D1D1D"/>
                </a:solidFill>
              </a:rPr>
              <a:t>verbosity bias: longer answers rewarded. Hybrid answers tend to be longer.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2085000" y="9108000"/>
            <a:ext cx="54000" cy="252000"/>
          </a:xfrm>
          <a:prstGeom prst="rect">
            <a:avLst/>
          </a:prstGeom>
          <a:solidFill>
            <a:srgbClr val="C97B2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229000" y="9072000"/>
            <a:ext cx="9783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B3A6B"/>
                </a:solidFill>
              </a:rPr>
              <a:t>Benchmark and evaluation design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2157000" y="943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Binary pass@1: </a:t>
            </a:r>
            <a:r>
              <a:rPr sz="1000" b="0" i="0">
                <a:solidFill>
                  <a:srgbClr val="1D1D1D"/>
                </a:solidFill>
              </a:rPr>
              <a:t>near-miss and complete miss treated identically. No partial credit.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157000" y="970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No human spot-check: </a:t>
            </a:r>
            <a:r>
              <a:rPr sz="1000" b="0" i="0">
                <a:solidFill>
                  <a:srgbClr val="1D1D1D"/>
                </a:solidFill>
              </a:rPr>
              <a:t>all judgments from LLM judge with no human validation.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157000" y="997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Fixed fusion: </a:t>
            </a:r>
            <a:r>
              <a:rPr sz="1000" b="0" i="0">
                <a:solidFill>
                  <a:srgbClr val="1D1D1D"/>
                </a:solidFill>
              </a:rPr>
              <a:t>always top-5+top-5, no deduplication; same page can appear twice.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2157000" y="1024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Domain-specific corpora: </a:t>
            </a:r>
            <a:r>
              <a:rPr sz="1000" b="0" i="0">
                <a:solidFill>
                  <a:srgbClr val="1D1D1D"/>
                </a:solidFill>
              </a:rPr>
              <a:t>CS, finance, pharma only. May not transfer to general-purpose RAG.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2085000" y="10548000"/>
            <a:ext cx="9927000" cy="396000"/>
          </a:xfrm>
          <a:prstGeom prst="rect">
            <a:avLst/>
          </a:prstGeom>
          <a:solidFill>
            <a:srgbClr val="1B3A6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2193000" y="10584000"/>
            <a:ext cx="9783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2157000" y="1105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Stronger generators: </a:t>
            </a:r>
            <a:r>
              <a:rPr sz="1000" b="0" i="0">
                <a:solidFill>
                  <a:srgbClr val="1D1D1D"/>
                </a:solidFill>
              </a:rPr>
              <a:t>Gemini 3 Pro, Qwen3-VL-235B to isolate generator-capability effect.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2157000" y="1132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Verbosity control: </a:t>
            </a:r>
            <a:r>
              <a:rPr sz="1000" b="0" i="0">
                <a:solidFill>
                  <a:srgbClr val="1D1D1D"/>
                </a:solidFill>
              </a:rPr>
              <a:t>Controlled-verbosity prompt and judge swap to rule out bias.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2157000" y="1159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Adaptive fusion: </a:t>
            </a:r>
            <a:r>
              <a:rPr sz="1000" b="0" i="0">
                <a:solidFill>
                  <a:srgbClr val="1D1D1D"/>
                </a:solidFill>
              </a:rPr>
              <a:t>Weighted combination, deduplication, query-type routing.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157000" y="11862000"/>
            <a:ext cx="9855000" cy="3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C97B2C"/>
                </a:solidFill>
              </a:rPr>
              <a:t>• </a:t>
            </a:r>
            <a:r>
              <a:rPr sz="1000" b="1" i="0">
                <a:solidFill>
                  <a:srgbClr val="1D1D1D"/>
                </a:solidFill>
              </a:rPr>
              <a:t>Figure captioning: </a:t>
            </a:r>
            <a:r>
              <a:rPr sz="1000" b="0" i="0">
                <a:solidFill>
                  <a:srgbClr val="1D1D1D"/>
                </a:solidFill>
              </a:rPr>
              <a:t>Close the figure-placeholder blind spot in the text stream.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2000" y="22716000"/>
            <a:ext cx="41220000" cy="18000"/>
          </a:xfrm>
          <a:prstGeom prst="rect">
            <a:avLst/>
          </a:prstGeom>
          <a:solidFill>
            <a:srgbClr val="CCCCC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92000" y="22752000"/>
            <a:ext cx="412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666666"/>
                </a:solidFill>
              </a:rPr>
              <a:t>Text parser: DeepSeek-OCR-2  ·  Text retriever: Jina v4  ·  Reranker: zerank-2  ·  Visual retriever: ColEmbed (Llama-Nemotron 3B v2)  ·  Generator: qwen3.5:35b  ·  Judge: llama3.1:8b  ·  Benchmark: ViDoRe v3 (Loison et al.,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